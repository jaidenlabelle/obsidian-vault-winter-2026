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3" r:id="rId1"/>
  </p:sldMasterIdLst>
  <p:notesMasterIdLst>
    <p:notesMasterId r:id="rId38"/>
  </p:notesMasterIdLst>
  <p:handoutMasterIdLst>
    <p:handoutMasterId r:id="rId39"/>
  </p:handoutMasterIdLst>
  <p:sldIdLst>
    <p:sldId id="256" r:id="rId2"/>
    <p:sldId id="477" r:id="rId3"/>
    <p:sldId id="445" r:id="rId4"/>
    <p:sldId id="479" r:id="rId5"/>
    <p:sldId id="480" r:id="rId6"/>
    <p:sldId id="453" r:id="rId7"/>
    <p:sldId id="454" r:id="rId8"/>
    <p:sldId id="455" r:id="rId9"/>
    <p:sldId id="456" r:id="rId10"/>
    <p:sldId id="452" r:id="rId11"/>
    <p:sldId id="446" r:id="rId12"/>
    <p:sldId id="458" r:id="rId13"/>
    <p:sldId id="460" r:id="rId14"/>
    <p:sldId id="459" r:id="rId15"/>
    <p:sldId id="461" r:id="rId16"/>
    <p:sldId id="462" r:id="rId17"/>
    <p:sldId id="463" r:id="rId18"/>
    <p:sldId id="464" r:id="rId19"/>
    <p:sldId id="465" r:id="rId20"/>
    <p:sldId id="466" r:id="rId21"/>
    <p:sldId id="467" r:id="rId22"/>
    <p:sldId id="468" r:id="rId23"/>
    <p:sldId id="469" r:id="rId24"/>
    <p:sldId id="470" r:id="rId25"/>
    <p:sldId id="471" r:id="rId26"/>
    <p:sldId id="447" r:id="rId27"/>
    <p:sldId id="451" r:id="rId28"/>
    <p:sldId id="448" r:id="rId29"/>
    <p:sldId id="449" r:id="rId30"/>
    <p:sldId id="450" r:id="rId31"/>
    <p:sldId id="472" r:id="rId32"/>
    <p:sldId id="473" r:id="rId33"/>
    <p:sldId id="474" r:id="rId34"/>
    <p:sldId id="475" r:id="rId35"/>
    <p:sldId id="476" r:id="rId36"/>
    <p:sldId id="444" r:id="rId37"/>
  </p:sldIdLst>
  <p:sldSz cx="9144000" cy="6858000" type="screen4x3"/>
  <p:notesSz cx="7315200" cy="9601200"/>
  <p:custDataLst>
    <p:tags r:id="rId40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/>
  </p:normalViewPr>
  <p:slideViewPr>
    <p:cSldViewPr>
      <p:cViewPr varScale="1">
        <p:scale>
          <a:sx n="106" d="100"/>
          <a:sy n="106" d="100"/>
        </p:scale>
        <p:origin x="176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-3192" y="-9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defRPr kumimoji="0"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kumimoji="0" sz="1300">
                <a:latin typeface="Times New Roman" charset="0"/>
              </a:defRPr>
            </a:lvl1pPr>
          </a:lstStyle>
          <a:p>
            <a:pPr>
              <a:defRPr/>
            </a:pPr>
            <a:fld id="{6005F6CF-8ACD-451A-A985-A0D8BD40087E}" type="datetime1">
              <a:rPr lang="en-US"/>
              <a:pPr>
                <a:defRPr/>
              </a:pPr>
              <a:t>1/26/2025</a:t>
            </a:fld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defRPr kumimoji="0" sz="1300"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kumimoji="0" sz="1300">
                <a:latin typeface="Times New Roman" charset="0"/>
              </a:defRPr>
            </a:lvl1pPr>
          </a:lstStyle>
          <a:p>
            <a:pPr>
              <a:defRPr/>
            </a:pPr>
            <a:fld id="{CA42E8D5-30CB-49C7-B4D1-32D0806E5C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3912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defRPr kumimoji="0"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kumimoji="0" sz="1300">
                <a:latin typeface="Times New Roman" charset="0"/>
              </a:defRPr>
            </a:lvl1pPr>
          </a:lstStyle>
          <a:p>
            <a:pPr>
              <a:defRPr/>
            </a:pPr>
            <a:fld id="{25A774B4-4AF6-43A5-BCB5-01F9E7DC894B}" type="datetime1">
              <a:rPr lang="en-US"/>
              <a:pPr>
                <a:defRPr/>
              </a:pPr>
              <a:t>1/26/2025</a:t>
            </a:fld>
            <a:endParaRPr lang="en-US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defRPr kumimoji="0" sz="1300"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kumimoji="0" sz="1300">
                <a:latin typeface="Times New Roman" charset="0"/>
              </a:defRPr>
            </a:lvl1pPr>
          </a:lstStyle>
          <a:p>
            <a:pPr>
              <a:defRPr/>
            </a:pPr>
            <a:fld id="{E6B0E5FB-6637-484C-B066-292CBE0B9C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5122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66788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66788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66788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66788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300"/>
              <a:t>CST8110 - L. Crane</a:t>
            </a:r>
          </a:p>
        </p:txBody>
      </p:sp>
      <p:sp>
        <p:nvSpPr>
          <p:cNvPr id="2662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66788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66788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66788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66788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2B4E9738-961D-487F-8A3C-B70515075141}" type="slidenum">
              <a:rPr kumimoji="0" lang="en-US" sz="1300" smtClean="0"/>
              <a:pPr/>
              <a:t>1</a:t>
            </a:fld>
            <a:endParaRPr kumimoji="0" lang="en-US" sz="130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42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7168B-9C6A-95DE-8E28-FB96D85E7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174E6-620F-7BD6-6AE7-54922313AE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5FF90B-87BE-2640-0AD3-07B15F43A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8CB2AD-B99C-9974-6BA7-6A125DC3E0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D7F3E6-6CA6-B951-208E-DA775CDAB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326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0A958-9387-4071-C4E0-11A1DB71E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6E0969-EB77-CB72-560B-9699B182E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B562FE-9056-2589-7D6E-86647B913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D17A85-9A35-C3F2-7BAA-D21A2964290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6241C7-E545-5BF0-6F63-E3AA51105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608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1CE45-1351-7588-AF69-5E18508A4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CDE360-363D-A489-A8FE-BC2B60ACA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DDA34D-2D7B-8F88-40AD-2D60D9BEB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30CF04-F302-C745-A549-01E482EE106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A7A5D3-FE66-4155-6564-8BD4BD5C0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289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C8A2B-13D9-CD0D-1483-9F3E9EABF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DC7FA-2B4D-0625-52B0-28B5185DF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71AE3-6134-F3EE-3AEC-90751DFEC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284E10-B7AC-E78B-4FA5-89BBAA2D221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098107-42B4-FD2C-E7A2-5069D9696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9B2BB-32F6-0945-A020-1E2F61C44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6459B8-7F81-0A59-CC95-854573F30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0D973-8E34-5580-CFDE-6DACEFC19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66729-B6C7-78EB-40CF-81D53AE90E2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A6C7A-A154-DA34-BD77-F0A72BD136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921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801AD-A459-3C1F-2FA9-5CE8CC5DF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FB27A3-21D0-F662-B682-79BAC66F9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045E45-D472-ADBE-DFD8-6C5948F7C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C78286-E3DF-6612-92B1-6D4DCE5EC2B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4B3978-02D4-98DE-74EA-A3050CA5F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950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A96E8-AAA9-24BC-3CB8-D7E093C1B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659BB9-37D8-9828-9B30-6D932176D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A462BA-CA86-E732-B58A-390EFC3F8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4305C4-ECC9-B21A-5530-24DDB6050D1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A0CE2D-7164-38DA-0F41-71657F1E27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99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97903-7612-9741-71A3-E92E26CC1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F8935A-108D-2BF5-34C1-D2343C67B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37076F-F6AA-6B8F-DB2B-4AD853FA4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2A6C57-8E63-9082-4ED6-255B29AA05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F30B57-3BA8-2566-2A2C-557331B44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992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0BE95-C47B-751D-EA84-42F6D5AA0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5135E9-8C0D-B77F-5342-DEB8D335D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B8E81F-646C-78EB-4B2D-4B4ED36C7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E76916-FE61-922E-CAE5-CAC91F75018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FBCDD-21CF-AD72-F1E7-9A5AB476E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4899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AE5C0-9F29-F329-1B4C-A7D7ACCF0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4C5B03-84D6-8B5F-46B7-D7CF3FD9C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4DF6D1-0F95-0D39-4E45-DD2679A66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5A3615-EB53-82BE-6A87-6ABAE8F6C5B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4E08F-854D-7D62-3FD9-37F6508CB9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920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87FFE-8488-3057-E6E0-856A5B564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E884E-C87C-7546-4490-3BA36875AE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3E3FF6-3882-6F2A-5EBF-32061FE90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FDFCE8-3B4F-145D-ADBD-6B687B1385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45B6B6-C9CB-FC5B-811B-01F4119D7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3467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55C6D-51A4-79FC-7DD3-EF347FB41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FC9DBF-5812-B594-D797-04612D283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2E6CC6-53E1-8D50-3A0B-2A23B4C8B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39196-D721-80B7-E320-FC306F1AAA9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D8C1A-49F4-959B-16CC-4157F568CF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9729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F9358-8771-F682-BADD-775ED86DF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720385-51CF-A62E-0BA3-449F9D627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101182-51A6-66B2-D2BC-7733D5BF6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984B21-D97B-D430-D1D3-A1D8F74291C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2DD9A-712C-ED19-B7D3-008FB44995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7856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341A2-8D15-07D6-2F5F-68DD1BABE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159784-2FFB-0A8E-D9B2-7DED21A20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3B871C-4F5D-23CC-E55F-26550064E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5C3396-71D4-7B0A-E43F-E66134EAAF3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1C06BB-2C2F-2C33-E7AF-D85CD4871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2999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54E5F-14A3-FF12-ACFA-47C65192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2BE3C7-FA9D-F5C2-2E78-EC2D8783F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4F53CE-4EED-864F-CBF5-99B3ADBE2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F033C-BE1D-506C-384B-25C71250071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E278E1-7678-0833-777A-E3A5B6940E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63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C5447-470E-1750-BD92-8FD5FCF40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FB2A13-76F5-8097-76AA-6E80D2C98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869FA4-DF84-3190-DCEA-58B727700D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D30E7F-2D8E-FDDD-B88D-5D3124F6F90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35E37-231D-E84F-D877-0C8BE1F26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3959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B29AC-6E01-E648-A492-A94DE9D43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0F25C-6F10-A676-9CBE-D55AA531C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43AB31-4711-B6DC-27D0-1FF67AF98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61675E-40C4-1676-8484-CB999BA01F4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0E863E-3011-1F1D-DCE4-D8AFAC090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5946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74F0B-5F45-32B9-85EE-F161BBE46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67FB8F-ACA6-FC25-3716-0786F5557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1D318B-1595-3E36-9683-35D9735134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445615-AD02-3309-D53C-612DE154148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828736-D2FE-6204-D846-2AF1429FFD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9080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4F4F7-3089-510C-E078-532F1F202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D2E134-9663-5CB0-48FC-3DC015AE9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72531F-644C-A0D6-8EFE-E6646D866E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F213C0-B241-3D97-3396-6010A5F9302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2ECE0D-8E21-31FC-4757-F1F28EA8B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1291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1F72B-D9F5-37AC-4F28-EC51579F4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84A91F-3F29-4604-4D24-B4E1CD95B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81FF67-34B2-D58A-E766-297FF8297C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534203-42D2-ADFA-0254-2C874D7CAF8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492862-4FDC-90AB-A09E-7C4C8AE8BF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9066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C9993-0303-70F6-5C80-4EF232799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2BA568-C1A8-9A87-F140-F581769F8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156FAC-0E52-8B7C-A3CE-5F05F5D8B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1CE18C-9BDC-D3B9-0A75-23F3C65CD0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5EC787-66A2-8234-0830-5CF5A6EB4E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0675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9EC92-188A-9674-47CA-9A4E7B9DF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0ADE52-FD55-EF80-5D0D-52AFCA855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87E5AE-D570-047E-BFED-996F396EE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12915-3B0A-6E57-BE7E-E2D43D094F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1CC14-E5BE-89B3-11C3-786617E53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674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BA69A-1EF1-7639-A2D7-2774322EA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C1C353-96BD-3469-FE74-DA8AAADC1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2A5432-75E9-A73C-F4AC-1A38E5AFA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0B348D-DB9D-7C5F-7D10-E29FF1AB686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0A0726-D621-BC56-1EDB-71104A021A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6213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00937-BF3D-CB76-D4DC-43B6790E5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03E9B6-4304-D232-DCE2-70C135924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1D52F1-20F3-61BC-50D0-913A07091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93574-F1F2-1FD5-7298-EBC47C0EB38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FC93C4-A135-A7A9-E4DA-3DBAC34C9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9744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124C4-F7B9-9728-8F58-45553C789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B1CBAC-AEEF-E1E0-A898-249B6A6F64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4D2158-8B70-5FE5-0969-72088CF11B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90B3BC-4444-1768-50B5-12CCE7419F6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64EDA1-F932-CC0B-2EC3-5E4365627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428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9C2EF-CC69-3FD2-88CE-782BD55A2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A8AE55-CBC0-BF53-9B83-CFF1CEAE1A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988FC7-3FB8-36BF-C9AD-12B065C37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B8C583-D1C3-CDAB-F7BE-7E811F00104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22BBDF-A50F-8B12-7450-668B30170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7293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50A82-2692-2724-DD6A-C768DC9B8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C2FB1B-007E-2E39-819C-87F4A72DA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C65898-4C0B-49A9-716E-3AD5E8EE36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7B3B09-F714-D29B-934E-9CEC1960953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414AA0-821B-5EDA-9635-A56351136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2886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1D72A-A35F-AACF-60BF-7D8460CE3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7D7BA2-28A0-6D03-CF50-D4467B877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94B342-313C-B9C8-F8C5-E5BB621A9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E244E5-EB46-3018-54B1-F453D27EC78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EC352-5553-39D6-AB96-251A25FC62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582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04CC4-4F2C-ECCA-DC66-D95B011EA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BE1ABF-CE97-4F78-B98E-1B9FAB3A9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6AE01F-9E84-A9E1-1488-0A413E3E6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D90999-D97F-1F72-5406-1A9838E525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F1ECCB-CCF9-D782-2247-CCD3C0603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73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07BC0-EFC8-87CD-9497-6570E1174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22A767-B033-4542-EED3-E0C974D6E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B145B8-3786-3017-8771-76ACACE13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C273D-4CF7-C6E3-A447-7D5353407BC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DBDBC9-9310-141B-74E0-08861C7E0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3786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9ED93-8984-C043-2531-241142519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1AF73C-8E2E-DD44-2FBD-9B33EAAD6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CE3599-19C0-6B63-E863-F6C88FB5D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C5E5C4-EDFE-2040-B3B2-5AE003A34AE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12FF98-A283-C796-A1C1-1C541DD78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2872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01F4B-2D0B-AC46-E8DB-C279D6483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688419-59D7-4DA0-1DFA-BE4E6E9791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AFD310-9218-88C4-EB6D-4A2878DDB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5ECC68-AE7A-1D12-82E2-AD4E758F2C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CST8110 - L. Crane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9DED6D-AA4B-1D1B-72F4-60E1242C82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0E5FB-6637-484C-B066-292CBE0B9CF1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21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png"/><Relationship Id="rId3" Type="http://schemas.openxmlformats.org/officeDocument/2006/relationships/tags" Target="../tags/tag4.xml"/><Relationship Id="rId7" Type="http://schemas.openxmlformats.org/officeDocument/2006/relationships/slideMaster" Target="../slideMasters/slideMaster1.xml"/><Relationship Id="rId12" Type="http://schemas.openxmlformats.org/officeDocument/2006/relationships/image" Target="../media/image7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6.png"/><Relationship Id="rId5" Type="http://schemas.openxmlformats.org/officeDocument/2006/relationships/tags" Target="../tags/tag6.xml"/><Relationship Id="rId10" Type="http://schemas.openxmlformats.org/officeDocument/2006/relationships/image" Target="../media/image5.png"/><Relationship Id="rId4" Type="http://schemas.openxmlformats.org/officeDocument/2006/relationships/tags" Target="../tags/tag5.xml"/><Relationship Id="rId9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10" Type="http://schemas.openxmlformats.org/officeDocument/2006/relationships/image" Target="../media/image8.png"/><Relationship Id="rId4" Type="http://schemas.openxmlformats.org/officeDocument/2006/relationships/tags" Target="../tags/tag11.xml"/><Relationship Id="rId9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10" Type="http://schemas.openxmlformats.org/officeDocument/2006/relationships/image" Target="../media/image8.png"/><Relationship Id="rId4" Type="http://schemas.openxmlformats.org/officeDocument/2006/relationships/tags" Target="../tags/tag17.xml"/><Relationship Id="rId9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251950" cy="6858000"/>
          </a:xfrm>
          <a:prstGeom prst="rect">
            <a:avLst/>
          </a:prstGeom>
          <a:solidFill>
            <a:srgbClr val="006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2"/>
              </a:solidFill>
            </a:endParaRPr>
          </a:p>
        </p:txBody>
      </p:sp>
      <p:pic>
        <p:nvPicPr>
          <p:cNvPr id="5" name="Picture 4" descr="White Algonquin College logo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795963" y="517525"/>
            <a:ext cx="2892425" cy="608013"/>
          </a:xfrm>
          <a:prstGeom prst="rect">
            <a:avLst/>
          </a:prstGeom>
        </p:spPr>
      </p:pic>
      <p:pic>
        <p:nvPicPr>
          <p:cNvPr id="6" name="Picture 5" descr="The AC icon illustrates the Algonquin's connectivity theme."/>
          <p:cNvPicPr>
            <a:picLocks noChangeAspect="1"/>
          </p:cNvPicPr>
          <p:nvPr userDrawn="1"/>
        </p:nvPicPr>
        <p:blipFill rotWithShape="1">
          <a:blip r:embed="rId3" cstate="print"/>
          <a:srcRect l="31137" b="2941"/>
          <a:stretch/>
        </p:blipFill>
        <p:spPr>
          <a:xfrm>
            <a:off x="0" y="2060575"/>
            <a:ext cx="4583113" cy="479742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102" y="3861048"/>
            <a:ext cx="3973959" cy="1368152"/>
          </a:xfrm>
        </p:spPr>
        <p:txBody>
          <a:bodyPr lIns="0" tIns="0" rIns="0"/>
          <a:lstStyle>
            <a:lvl1pPr marL="0" indent="0" algn="r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18347" y="1995317"/>
            <a:ext cx="3971628" cy="1807920"/>
          </a:xfrm>
          <a:noFill/>
        </p:spPr>
        <p:txBody>
          <a:bodyPr lIns="0" tIns="0" rIns="0"/>
          <a:lstStyle>
            <a:lvl1pPr algn="r">
              <a:lnSpc>
                <a:spcPct val="90000"/>
              </a:lnSpc>
              <a:defRPr sz="3200" b="1" i="0" cap="all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85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en-CA" dirty="0"/>
              <a:t>CST8110 – Howard </a:t>
            </a:r>
            <a:r>
              <a:rPr lang="en-CA" dirty="0" err="1"/>
              <a:t>Rosenblum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8388" y="6537325"/>
            <a:ext cx="454025" cy="2127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A690C0-4C82-43B2-9749-0D13DA22A5B0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7397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55738"/>
            <a:ext cx="4038600" cy="442153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55739"/>
            <a:ext cx="4038600" cy="44215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dirty="0"/>
              <a:t>CST8110 – Howard </a:t>
            </a:r>
            <a:r>
              <a:rPr lang="en-CA" dirty="0" err="1"/>
              <a:t>Rosenblum</a:t>
            </a:r>
            <a:endParaRPr lang="en-CA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A03DC7-E7E6-4D1B-ADBD-B19554FAE435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480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6092825"/>
          </a:xfrm>
          <a:prstGeom prst="rect">
            <a:avLst/>
          </a:prstGeom>
          <a:solidFill>
            <a:srgbClr val="006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CST8110  - Linda Crane</a:t>
            </a:r>
            <a:endParaRPr lang="en-CA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/>
              <a:t>CST8110 - Linda Crane</a:t>
            </a:r>
          </a:p>
        </p:txBody>
      </p:sp>
    </p:spTree>
    <p:extLst>
      <p:ext uri="{BB962C8B-B14F-4D97-AF65-F5344CB8AC3E}">
        <p14:creationId xmlns:p14="http://schemas.microsoft.com/office/powerpoint/2010/main" val="1499332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CST8110  - Linda Crane</a:t>
            </a:r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3648" y="6237312"/>
            <a:ext cx="2895600" cy="2159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/>
              <a:t>CST8110 - Linda Crane</a:t>
            </a:r>
            <a:endParaRPr lang="en-CA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DF2990-4EB2-43CF-8C51-F01A083DC7C6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3643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CST8110  - Linda Crane</a:t>
            </a:r>
            <a:endParaRPr lang="en-CA" dirty="0"/>
          </a:p>
        </p:txBody>
      </p:sp>
      <p:sp>
        <p:nvSpPr>
          <p:cNvPr id="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/>
              <a:t>CST8110 - Linda Crane</a:t>
            </a:r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55CDC3-C0BD-490B-8257-AED43DB1AC5A}" type="slidenum">
              <a:rPr lang="en-CA"/>
              <a:pPr>
                <a:defRPr/>
              </a:pPr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57863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CQ (5-choices, 0-timer, BarChart-char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6"/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2108200"/>
            <a:ext cx="419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7"/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2933700"/>
            <a:ext cx="419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8"/>
          <p:cNvPicPr>
            <a:picLocks/>
          </p:cNvPicPr>
          <p:nvPr userDrawn="1"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3759200"/>
            <a:ext cx="419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9"/>
          <p:cNvPicPr>
            <a:picLocks/>
          </p:cNvPicPr>
          <p:nvPr userDrawn="1"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4584700"/>
            <a:ext cx="419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0"/>
          <p:cNvPicPr>
            <a:picLocks/>
          </p:cNvPicPr>
          <p:nvPr userDrawn="1"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5410200"/>
            <a:ext cx="419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1"/>
          <p:cNvPicPr>
            <a:picLocks/>
          </p:cNvPicPr>
          <p:nvPr userDrawn="1"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7700" y="2705100"/>
            <a:ext cx="3175000" cy="317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4"/>
          <p:cNvSpPr>
            <a:spLocks noGrp="1"/>
          </p:cNvSpPr>
          <p:nvPr>
            <p:ph type="title" idx="12"/>
          </p:nvPr>
        </p:nvSpPr>
        <p:spPr>
          <a:xfrm>
            <a:off x="127000" y="127000"/>
            <a:ext cx="8890000" cy="1460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>
          <a:xfrm>
            <a:off x="762000" y="1968500"/>
            <a:ext cx="4572000" cy="698500"/>
          </a:xfrm>
        </p:spPr>
        <p:txBody>
          <a:bodyPr lIns="50800" tIns="25400" rIns="50800" bIns="25400" anchor="ctr">
            <a:normAutofit/>
          </a:bodyPr>
          <a:lstStyle>
            <a:lvl1pPr marL="0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latin typeface="Arial"/>
              </a:defRPr>
            </a:lvl1pPr>
            <a:lvl2pPr marL="479425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latin typeface="Arial"/>
              </a:defRPr>
            </a:lvl2pPr>
            <a:lvl3pPr marL="858837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latin typeface="Arial"/>
              </a:defRPr>
            </a:lvl3pPr>
            <a:lvl4pPr marL="1241425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latin typeface="Arial"/>
              </a:defRPr>
            </a:lvl4pPr>
            <a:lvl5pPr marL="1719262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762000" y="2794000"/>
            <a:ext cx="4572000" cy="698500"/>
          </a:xfrm>
          <a:prstGeom prst="rect">
            <a:avLst/>
          </a:prstGeom>
        </p:spPr>
        <p:txBody>
          <a:bodyPr lIns="50800" tIns="25400" rIns="50800" bIns="25400" anchor="ctr">
            <a:normAutofit/>
          </a:bodyPr>
          <a:lstStyle>
            <a:lvl1pPr marL="0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latin typeface="Arial"/>
              </a:defRPr>
            </a:lvl1pPr>
            <a:lvl2pPr marL="479425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latin typeface="Arial"/>
              </a:defRPr>
            </a:lvl2pPr>
            <a:lvl3pPr marL="858837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latin typeface="Arial"/>
              </a:defRPr>
            </a:lvl3pPr>
            <a:lvl4pPr marL="1241425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latin typeface="Arial"/>
              </a:defRPr>
            </a:lvl4pPr>
            <a:lvl5pPr marL="1719262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762000" y="3619500"/>
            <a:ext cx="4572000" cy="698500"/>
          </a:xfrm>
          <a:prstGeom prst="rect">
            <a:avLst/>
          </a:prstGeom>
        </p:spPr>
        <p:txBody>
          <a:bodyPr lIns="50800" tIns="25400" rIns="50800" bIns="25400" anchor="ctr">
            <a:normAutofit/>
          </a:bodyPr>
          <a:lstStyle>
            <a:lvl1pPr marL="0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latin typeface="Arial"/>
              </a:defRPr>
            </a:lvl1pPr>
            <a:lvl2pPr marL="479425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latin typeface="Arial"/>
              </a:defRPr>
            </a:lvl2pPr>
            <a:lvl3pPr marL="858837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latin typeface="Arial"/>
              </a:defRPr>
            </a:lvl3pPr>
            <a:lvl4pPr marL="1241425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latin typeface="Arial"/>
              </a:defRPr>
            </a:lvl4pPr>
            <a:lvl5pPr marL="1719262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762000" y="4445000"/>
            <a:ext cx="4572000" cy="698500"/>
          </a:xfrm>
          <a:prstGeom prst="rect">
            <a:avLst/>
          </a:prstGeom>
        </p:spPr>
        <p:txBody>
          <a:bodyPr lIns="50800" tIns="25400" rIns="50800" bIns="25400" anchor="ctr">
            <a:normAutofit/>
          </a:bodyPr>
          <a:lstStyle>
            <a:lvl1pPr marL="0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latin typeface="Arial"/>
              </a:defRPr>
            </a:lvl1pPr>
            <a:lvl2pPr marL="479425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latin typeface="Arial"/>
              </a:defRPr>
            </a:lvl2pPr>
            <a:lvl3pPr marL="858837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latin typeface="Arial"/>
              </a:defRPr>
            </a:lvl3pPr>
            <a:lvl4pPr marL="1241425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latin typeface="Arial"/>
              </a:defRPr>
            </a:lvl4pPr>
            <a:lvl5pPr marL="1719262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7"/>
          </p:nvPr>
        </p:nvSpPr>
        <p:spPr>
          <a:xfrm>
            <a:off x="762000" y="5270500"/>
            <a:ext cx="4572000" cy="698500"/>
          </a:xfrm>
          <a:prstGeom prst="rect">
            <a:avLst/>
          </a:prstGeom>
        </p:spPr>
        <p:txBody>
          <a:bodyPr lIns="50800" tIns="25400" rIns="50800" bIns="25400" anchor="ctr">
            <a:normAutofit/>
          </a:bodyPr>
          <a:lstStyle>
            <a:lvl1pPr marL="0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latin typeface="Arial"/>
              </a:defRPr>
            </a:lvl1pPr>
            <a:lvl2pPr marL="479425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latin typeface="Arial"/>
              </a:defRPr>
            </a:lvl2pPr>
            <a:lvl3pPr marL="858837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latin typeface="Arial"/>
              </a:defRPr>
            </a:lvl3pPr>
            <a:lvl4pPr marL="1241425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latin typeface="Arial"/>
              </a:defRPr>
            </a:lvl4pPr>
            <a:lvl5pPr marL="1719262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2"/>
          <p:cNvSpPr>
            <a:spLocks noGrp="1"/>
          </p:cNvSpPr>
          <p:nvPr>
            <p:ph type="dt" sz="half" idx="18"/>
          </p:nvPr>
        </p:nvSpPr>
        <p:spPr>
          <a:xfrm>
            <a:off x="1331640" y="6525344"/>
            <a:ext cx="2133600" cy="220662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CST8110  - Linda Crane</a:t>
            </a:r>
            <a:endParaRPr lang="en-US" dirty="0"/>
          </a:p>
        </p:txBody>
      </p:sp>
      <p:sp>
        <p:nvSpPr>
          <p:cNvPr id="19" name="Slide Number Placeholder 3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Page </a:t>
            </a:r>
            <a:fld id="{DD4D1D05-D8BB-4E97-A900-F329B630A2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286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CQ (2-choices, 0-timer, BarChart-chart)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 - Linda Crane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Page </a:t>
            </a:r>
            <a:fld id="{951CF608-CFCE-41CA-AE0A-BF00B56636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 idx="12" hasCustomPrompt="1"/>
            <p:custDataLst>
              <p:tags r:id="rId1"/>
            </p:custDataLst>
          </p:nvPr>
        </p:nvSpPr>
        <p:spPr>
          <a:xfrm>
            <a:off x="127000" y="127000"/>
            <a:ext cx="8890000" cy="1460500"/>
          </a:xfrm>
        </p:spPr>
        <p:txBody>
          <a:bodyPr/>
          <a:lstStyle/>
          <a:p>
            <a:r>
              <a:rPr lang="en-US"/>
              <a:t>Click to add question</a:t>
            </a:r>
          </a:p>
        </p:txBody>
      </p:sp>
      <p:pic>
        <p:nvPicPr>
          <p:cNvPr id="6" name="Picture 5"/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2273300"/>
            <a:ext cx="495300" cy="49530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idx="13" hasCustomPrompt="1"/>
            <p:custDataLst>
              <p:tags r:id="rId3"/>
            </p:custDataLst>
          </p:nvPr>
        </p:nvSpPr>
        <p:spPr>
          <a:xfrm>
            <a:off x="762000" y="1968500"/>
            <a:ext cx="4572000" cy="1104900"/>
          </a:xfrm>
        </p:spPr>
        <p:txBody>
          <a:bodyPr lIns="76200" tIns="38100" rIns="76200" bIns="38100" anchor="ctr">
            <a:normAutofit/>
          </a:bodyPr>
          <a:lstStyle>
            <a:lvl1pPr marL="0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latin typeface="Arial"/>
              </a:defRPr>
            </a:lvl1pPr>
            <a:lvl2pPr marL="479425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latin typeface="Arial"/>
              </a:defRPr>
            </a:lvl2pPr>
            <a:lvl3pPr marL="858837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latin typeface="Arial"/>
              </a:defRPr>
            </a:lvl3pPr>
            <a:lvl4pPr marL="1241425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latin typeface="Arial"/>
              </a:defRPr>
            </a:lvl4pPr>
            <a:lvl5pPr marL="1719262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latin typeface="Arial"/>
              </a:defRPr>
            </a:lvl5pPr>
          </a:lstStyle>
          <a:p>
            <a:pPr lvl="0"/>
            <a:r>
              <a:rPr lang="en-US"/>
              <a:t>Click to add answer</a:t>
            </a:r>
          </a:p>
        </p:txBody>
      </p:sp>
      <p:pic>
        <p:nvPicPr>
          <p:cNvPr id="8" name="Picture 7"/>
          <p:cNvPicPr>
            <a:picLocks/>
          </p:cNvPicPr>
          <p:nvPr userDrawn="1"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3505200"/>
            <a:ext cx="495300" cy="495300"/>
          </a:xfrm>
          <a:prstGeom prst="rect">
            <a:avLst/>
          </a:prstGeom>
        </p:spPr>
      </p:pic>
      <p:sp>
        <p:nvSpPr>
          <p:cNvPr id="9" name="Text Placeholder 8"/>
          <p:cNvSpPr>
            <a:spLocks noGrp="1"/>
          </p:cNvSpPr>
          <p:nvPr>
            <p:ph type="body" sz="quarter" idx="14" hasCustomPrompt="1"/>
            <p:custDataLst>
              <p:tags r:id="rId5"/>
            </p:custDataLst>
          </p:nvPr>
        </p:nvSpPr>
        <p:spPr>
          <a:xfrm>
            <a:off x="762000" y="3200400"/>
            <a:ext cx="4572000" cy="1104900"/>
          </a:xfrm>
          <a:prstGeom prst="rect">
            <a:avLst/>
          </a:prstGeom>
        </p:spPr>
        <p:txBody>
          <a:bodyPr lIns="76200" tIns="38100" rIns="76200" bIns="38100" anchor="ctr">
            <a:normAutofit/>
          </a:bodyPr>
          <a:lstStyle>
            <a:lvl1pPr marL="0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latin typeface="Arial"/>
              </a:defRPr>
            </a:lvl1pPr>
            <a:lvl2pPr marL="479425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latin typeface="Arial"/>
              </a:defRPr>
            </a:lvl2pPr>
            <a:lvl3pPr marL="858837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latin typeface="Arial"/>
              </a:defRPr>
            </a:lvl3pPr>
            <a:lvl4pPr marL="1241425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latin typeface="Arial"/>
              </a:defRPr>
            </a:lvl4pPr>
            <a:lvl5pPr marL="1719262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latin typeface="Arial"/>
              </a:defRPr>
            </a:lvl5pPr>
          </a:lstStyle>
          <a:p>
            <a:pPr lvl="0"/>
            <a:r>
              <a:rPr lang="en-US"/>
              <a:t>Click to add answer</a:t>
            </a:r>
          </a:p>
        </p:txBody>
      </p:sp>
      <p:pic>
        <p:nvPicPr>
          <p:cNvPr id="10" name="Picture 9"/>
          <p:cNvPicPr>
            <a:picLocks/>
          </p:cNvPicPr>
          <p:nvPr userDrawn="1">
            <p:custDataLst>
              <p:tags r:id="rId6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7700" y="2705100"/>
            <a:ext cx="31750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190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CQ (2-choices, 0-timer, BarChart-char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CST8110  - Linda Crane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Page </a:t>
            </a:r>
            <a:fld id="{951CF608-CFCE-41CA-AE0A-BF00B56636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 idx="12" hasCustomPrompt="1"/>
            <p:custDataLst>
              <p:tags r:id="rId1"/>
            </p:custDataLst>
          </p:nvPr>
        </p:nvSpPr>
        <p:spPr>
          <a:xfrm>
            <a:off x="127000" y="127000"/>
            <a:ext cx="8890000" cy="1460500"/>
          </a:xfrm>
        </p:spPr>
        <p:txBody>
          <a:bodyPr/>
          <a:lstStyle/>
          <a:p>
            <a:r>
              <a:rPr lang="en-US"/>
              <a:t>Click to add question</a:t>
            </a:r>
          </a:p>
        </p:txBody>
      </p:sp>
      <p:pic>
        <p:nvPicPr>
          <p:cNvPr id="6" name="Picture 5"/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2273300"/>
            <a:ext cx="495300" cy="49530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idx="13" hasCustomPrompt="1"/>
            <p:custDataLst>
              <p:tags r:id="rId3"/>
            </p:custDataLst>
          </p:nvPr>
        </p:nvSpPr>
        <p:spPr>
          <a:xfrm>
            <a:off x="762000" y="1968500"/>
            <a:ext cx="4572000" cy="1104900"/>
          </a:xfrm>
        </p:spPr>
        <p:txBody>
          <a:bodyPr lIns="76200" tIns="38100" rIns="76200" bIns="38100" anchor="ctr">
            <a:normAutofit/>
          </a:bodyPr>
          <a:lstStyle>
            <a:lvl1pPr marL="0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latin typeface="Arial"/>
              </a:defRPr>
            </a:lvl1pPr>
            <a:lvl2pPr marL="479425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latin typeface="Arial"/>
              </a:defRPr>
            </a:lvl2pPr>
            <a:lvl3pPr marL="858837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latin typeface="Arial"/>
              </a:defRPr>
            </a:lvl3pPr>
            <a:lvl4pPr marL="1241425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latin typeface="Arial"/>
              </a:defRPr>
            </a:lvl4pPr>
            <a:lvl5pPr marL="1719262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latin typeface="Arial"/>
              </a:defRPr>
            </a:lvl5pPr>
          </a:lstStyle>
          <a:p>
            <a:pPr lvl="0"/>
            <a:r>
              <a:rPr lang="en-US"/>
              <a:t>Click to add answer</a:t>
            </a:r>
          </a:p>
        </p:txBody>
      </p:sp>
      <p:pic>
        <p:nvPicPr>
          <p:cNvPr id="8" name="Picture 7"/>
          <p:cNvPicPr>
            <a:picLocks/>
          </p:cNvPicPr>
          <p:nvPr userDrawn="1"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3505200"/>
            <a:ext cx="495300" cy="495300"/>
          </a:xfrm>
          <a:prstGeom prst="rect">
            <a:avLst/>
          </a:prstGeom>
        </p:spPr>
      </p:pic>
      <p:sp>
        <p:nvSpPr>
          <p:cNvPr id="9" name="Text Placeholder 8"/>
          <p:cNvSpPr>
            <a:spLocks noGrp="1"/>
          </p:cNvSpPr>
          <p:nvPr>
            <p:ph type="body" sz="quarter" idx="14" hasCustomPrompt="1"/>
            <p:custDataLst>
              <p:tags r:id="rId5"/>
            </p:custDataLst>
          </p:nvPr>
        </p:nvSpPr>
        <p:spPr>
          <a:xfrm>
            <a:off x="762000" y="3200400"/>
            <a:ext cx="4572000" cy="1104900"/>
          </a:xfrm>
          <a:prstGeom prst="rect">
            <a:avLst/>
          </a:prstGeom>
        </p:spPr>
        <p:txBody>
          <a:bodyPr lIns="76200" tIns="38100" rIns="76200" bIns="38100" anchor="ctr">
            <a:normAutofit/>
          </a:bodyPr>
          <a:lstStyle>
            <a:lvl1pPr marL="0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latin typeface="Arial"/>
              </a:defRPr>
            </a:lvl1pPr>
            <a:lvl2pPr marL="479425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latin typeface="Arial"/>
              </a:defRPr>
            </a:lvl2pPr>
            <a:lvl3pPr marL="858837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latin typeface="Arial"/>
              </a:defRPr>
            </a:lvl3pPr>
            <a:lvl4pPr marL="1241425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latin typeface="Arial"/>
              </a:defRPr>
            </a:lvl4pPr>
            <a:lvl5pPr marL="1719262" indent="0" algn="l" defTabSz="814388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latin typeface="Arial"/>
              </a:defRPr>
            </a:lvl5pPr>
          </a:lstStyle>
          <a:p>
            <a:pPr lvl="0"/>
            <a:r>
              <a:rPr lang="en-US"/>
              <a:t>Click to add answer</a:t>
            </a:r>
          </a:p>
        </p:txBody>
      </p:sp>
      <p:pic>
        <p:nvPicPr>
          <p:cNvPr id="10" name="Picture 9"/>
          <p:cNvPicPr>
            <a:picLocks/>
          </p:cNvPicPr>
          <p:nvPr userDrawn="1">
            <p:custDataLst>
              <p:tags r:id="rId6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7700" y="2705100"/>
            <a:ext cx="31750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859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F45AE3-EB76-41DE-97B2-CFE79B73D3C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554920"/>
            <a:ext cx="8232775" cy="4663335"/>
          </a:xfrm>
        </p:spPr>
        <p:txBody>
          <a:bodyPr/>
          <a:lstStyle>
            <a:lvl1pPr indent="-255600">
              <a:defRPr sz="2400">
                <a:latin typeface="+mn-lt"/>
              </a:defRPr>
            </a:lvl1pPr>
            <a:lvl2pPr indent="-284400">
              <a:defRPr sz="2400">
                <a:latin typeface="+mn-lt"/>
              </a:defRPr>
            </a:lvl2pPr>
            <a:lvl3pPr indent="-230400">
              <a:buFont typeface="Wingdings" panose="05000000000000000000" pitchFamily="2" charset="2"/>
              <a:buChar char="§"/>
              <a:defRPr sz="2400">
                <a:latin typeface="+mn-lt"/>
              </a:defRPr>
            </a:lvl3pPr>
            <a:lvl4pPr indent="-230400">
              <a:defRPr sz="2400">
                <a:latin typeface="+mn-lt"/>
              </a:defRPr>
            </a:lvl4pPr>
            <a:lvl5pPr indent="-230400">
              <a:defRPr sz="24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Shape 28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1663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one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BB07C-705F-4113-A2C5-779D6EA64D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56327"/>
            <a:ext cx="8229600" cy="4586896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1143000"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▪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9851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073775"/>
            <a:ext cx="9144000" cy="7953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8313" y="1455738"/>
            <a:ext cx="8207375" cy="434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71600" y="6545263"/>
            <a:ext cx="2133600" cy="22066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en-US"/>
              <a:t>CST8110  - Linda Crane</a:t>
            </a:r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600" y="6218238"/>
            <a:ext cx="2895600" cy="2159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 b="1" dirty="0" smtClean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en-CA"/>
              <a:t>CST8110 - Linda Crane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8388" y="6554788"/>
            <a:ext cx="454025" cy="211137"/>
          </a:xfrm>
          <a:prstGeom prst="rect">
            <a:avLst/>
          </a:prstGeom>
        </p:spPr>
        <p:txBody>
          <a:bodyPr vert="horz" lIns="0" tIns="0" rIns="91440" bIns="0" rtlCol="0" anchor="t" anchorCtr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 smtClean="0">
                <a:solidFill>
                  <a:schemeClr val="accent5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fld id="{E8D860EE-5673-480F-810E-ADD6111747E0}" type="slidenum">
              <a:rPr lang="en-CA"/>
              <a:pPr>
                <a:defRPr/>
              </a:pPr>
              <a:t>‹#›</a:t>
            </a:fld>
            <a:endParaRPr lang="en-CA" dirty="0"/>
          </a:p>
        </p:txBody>
      </p:sp>
      <p:sp>
        <p:nvSpPr>
          <p:cNvPr id="1031" name="Title Placeholder 1"/>
          <p:cNvSpPr>
            <a:spLocks noGrp="1"/>
          </p:cNvSpPr>
          <p:nvPr>
            <p:ph type="title"/>
          </p:nvPr>
        </p:nvSpPr>
        <p:spPr bwMode="auto">
          <a:xfrm>
            <a:off x="468313" y="146050"/>
            <a:ext cx="8207375" cy="119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pic>
        <p:nvPicPr>
          <p:cNvPr id="2" name="Picture 1" descr="Algonquin College Logo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6443663" y="6218238"/>
            <a:ext cx="2232025" cy="468312"/>
          </a:xfrm>
          <a:prstGeom prst="rect">
            <a:avLst/>
          </a:prstGeom>
        </p:spPr>
      </p:pic>
      <p:pic>
        <p:nvPicPr>
          <p:cNvPr id="11" name="Picture 10" descr="Algonquin College Icon"/>
          <p:cNvPicPr>
            <a:picLocks noChangeAspect="1"/>
          </p:cNvPicPr>
          <p:nvPr userDrawn="1"/>
        </p:nvPicPr>
        <p:blipFill rotWithShape="1">
          <a:blip r:embed="rId14" cstate="print"/>
          <a:srcRect l="12779" t="5165" b="5138"/>
          <a:stretch/>
        </p:blipFill>
        <p:spPr>
          <a:xfrm>
            <a:off x="0" y="6061075"/>
            <a:ext cx="1042988" cy="79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589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Arial"/>
          <a:ea typeface="+mj-ea"/>
          <a:cs typeface="Arial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339933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339933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339933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339933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•"/>
        <a:defRPr sz="3200" kern="1200">
          <a:solidFill>
            <a:srgbClr val="63666A"/>
          </a:solidFill>
          <a:latin typeface="Arial"/>
          <a:ea typeface="+mn-ea"/>
          <a:cs typeface="Arial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•"/>
        <a:defRPr sz="2800" kern="1200">
          <a:solidFill>
            <a:srgbClr val="63666A"/>
          </a:solidFill>
          <a:latin typeface="Arial"/>
          <a:ea typeface="+mn-ea"/>
          <a:cs typeface="Arial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•"/>
        <a:defRPr sz="2400" kern="1200">
          <a:solidFill>
            <a:srgbClr val="63666A"/>
          </a:solidFill>
          <a:latin typeface="Arial"/>
          <a:ea typeface="+mn-ea"/>
          <a:cs typeface="Arial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•"/>
        <a:defRPr sz="2000" kern="1200">
          <a:solidFill>
            <a:srgbClr val="63666A"/>
          </a:solidFill>
          <a:latin typeface="Arial"/>
          <a:ea typeface="+mn-ea"/>
          <a:cs typeface="Arial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•"/>
        <a:defRPr sz="2000" kern="1200">
          <a:solidFill>
            <a:srgbClr val="63666A"/>
          </a:solidFill>
          <a:latin typeface="Arial"/>
          <a:ea typeface="+mn-ea"/>
          <a:cs typeface="Arial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osenbh@algonquincollege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track.g2.com/resources/software-license" TargetMode="External"/><Relationship Id="rId2" Type="http://schemas.openxmlformats.org/officeDocument/2006/relationships/hyperlink" Target="https://www.revenera.com/software-monetization/glossary/software-licensing" TargetMode="Externa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www.contractscounsel.com/t/us/software-license-and-maintenance-agreeme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139952" y="3573016"/>
            <a:ext cx="5004048" cy="2160240"/>
          </a:xfrm>
        </p:spPr>
        <p:txBody>
          <a:bodyPr/>
          <a:lstStyle/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algn="l" eaLnBrk="1" hangingPunct="1"/>
            <a:r>
              <a:rPr lang="en-US" altLang="en-US" dirty="0">
                <a:solidFill>
                  <a:srgbClr val="0000FF"/>
                </a:solidFill>
                <a:latin typeface="Arial" charset="0"/>
                <a:cs typeface="Arial" charset="0"/>
              </a:rPr>
              <a:t>Professor :</a:t>
            </a:r>
            <a:r>
              <a:rPr lang="en-US" altLang="en-US" dirty="0">
                <a:latin typeface="Arial" charset="0"/>
                <a:cs typeface="Arial" charset="0"/>
              </a:rPr>
              <a:t>  Rejaul Chowdhury</a:t>
            </a:r>
          </a:p>
          <a:p>
            <a:pPr algn="l" eaLnBrk="1" hangingPunct="1"/>
            <a:r>
              <a:rPr lang="en-US" altLang="en-US" dirty="0">
                <a:solidFill>
                  <a:srgbClr val="0000FF"/>
                </a:solidFill>
                <a:latin typeface="Arial" charset="0"/>
                <a:cs typeface="Arial" charset="0"/>
              </a:rPr>
              <a:t>Email:</a:t>
            </a:r>
            <a:r>
              <a:rPr lang="en-US" altLang="en-US" dirty="0">
                <a:latin typeface="Arial" charset="0"/>
                <a:cs typeface="Arial" charset="0"/>
              </a:rPr>
              <a:t>  </a:t>
            </a:r>
            <a:r>
              <a:rPr lang="en-US" altLang="en-US" u="sng" dirty="0">
                <a:solidFill>
                  <a:schemeClr val="accent2"/>
                </a:solidFill>
                <a:latin typeface="Arial" charset="0"/>
                <a:cs typeface="Arial" charset="0"/>
              </a:rPr>
              <a:t>chowdhr</a:t>
            </a:r>
            <a:r>
              <a:rPr lang="en-US" altLang="en-US" dirty="0">
                <a:latin typeface="Arial" charset="0"/>
                <a:cs typeface="Arial" charset="0"/>
                <a:hlinkClick r:id="rId3"/>
              </a:rPr>
              <a:t>@algonquincollege.com</a:t>
            </a:r>
            <a:endParaRPr lang="en-US" altLang="en-US" dirty="0">
              <a:latin typeface="Arial" charset="0"/>
              <a:cs typeface="Arial" charset="0"/>
            </a:endParaRPr>
          </a:p>
          <a:p>
            <a:pPr algn="l" eaLnBrk="1" hangingPunct="1"/>
            <a:r>
              <a:rPr lang="en-US" altLang="en-US" dirty="0">
                <a:solidFill>
                  <a:srgbClr val="0000FF"/>
                </a:solidFill>
                <a:latin typeface="Arial" charset="0"/>
                <a:cs typeface="Arial" charset="0"/>
              </a:rPr>
              <a:t>Office:</a:t>
            </a:r>
            <a:r>
              <a:rPr lang="en-US" altLang="en-US" dirty="0">
                <a:latin typeface="Arial" charset="0"/>
                <a:cs typeface="Arial" charset="0"/>
              </a:rPr>
              <a:t>   T323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1995317"/>
            <a:ext cx="8280920" cy="1807920"/>
          </a:xfrm>
        </p:spPr>
        <p:txBody>
          <a:bodyPr/>
          <a:lstStyle/>
          <a:p>
            <a:pPr eaLnBrk="1" hangingPunct="1"/>
            <a:r>
              <a:rPr lang="en" sz="3600" dirty="0">
                <a:ea typeface="Arial"/>
                <a:sym typeface="Arial"/>
              </a:rPr>
              <a:t>Software Support agreements</a:t>
            </a:r>
            <a:endParaRPr lang="en-US" sz="36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426BE-9853-E2A4-5372-BAD0B3821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E5D5-83AF-A8ED-CE7B-3E56E43FB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146050"/>
            <a:ext cx="8207375" cy="834678"/>
          </a:xfrm>
        </p:spPr>
        <p:txBody>
          <a:bodyPr/>
          <a:lstStyle/>
          <a:p>
            <a:r>
              <a:rPr lang="en-US" dirty="0">
                <a:latin typeface="+mj-lt"/>
              </a:rPr>
              <a:t>Objectives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302CC-BB8E-35F7-018B-9DCAB6DBA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980728"/>
            <a:ext cx="8280920" cy="4752528"/>
          </a:xfrm>
        </p:spPr>
        <p:txBody>
          <a:bodyPr/>
          <a:lstStyle/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Define the term Software Licensing.</a:t>
            </a: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Categorize Software Licensing.</a:t>
            </a: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Focus on the importance of software licensing for software developers and users.</a:t>
            </a: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the components of Software License Agreement.</a:t>
            </a: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 deployment methods for Software Licensing. </a:t>
            </a: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different sections for Software Licensing  Support Agreement.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indent="0">
              <a:buSzPts val="2400"/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ts val="2400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Aft>
                <a:spcPct val="0"/>
              </a:spcAft>
              <a:buSzPts val="2400"/>
              <a:buNone/>
            </a:pP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4FAA40-FBF3-7359-B070-C4D7646E0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1905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23ED2-68E1-E684-6C38-AF3C8266B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992B4-DDA8-F922-8F19-AEBFDBA98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2" y="0"/>
            <a:ext cx="8207375" cy="700686"/>
          </a:xfrm>
        </p:spPr>
        <p:txBody>
          <a:bodyPr/>
          <a:lstStyle/>
          <a:p>
            <a:r>
              <a:rPr lang="en-US" dirty="0">
                <a:latin typeface="+mj-lt"/>
              </a:rPr>
              <a:t>Software License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8DF76-6B71-ED81-C94A-5A1EBE209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4745"/>
            <a:ext cx="9062313" cy="3528392"/>
          </a:xfrm>
        </p:spPr>
        <p:txBody>
          <a:bodyPr/>
          <a:lstStyle/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 legal agreement that defines the terms of usage and provides the right to one or more copies of software to end users.</a:t>
            </a: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stablish the rights and legal framework for interaction between all parties involved, i.e. software developers, providers, and users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Without a license, using and redistributing the software would be considered a breach of copyright law. </a:t>
            </a: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SzPts val="240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>
              <a:buSzPts val="2400"/>
            </a:pPr>
            <a:endParaRPr lang="en-US" sz="2400" dirty="0"/>
          </a:p>
          <a:p>
            <a:pPr marL="0" lvl="0" indent="0">
              <a:spcAft>
                <a:spcPct val="0"/>
              </a:spcAft>
              <a:buSzPts val="2400"/>
              <a:buNone/>
            </a:pP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773EC-C6A9-2D35-9DAC-221731455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9330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42065-6A38-95AA-E239-8CE521DF0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A133C-A717-E992-E205-AA6D9838E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06" y="79572"/>
            <a:ext cx="5601222" cy="1045173"/>
          </a:xfrm>
        </p:spPr>
        <p:txBody>
          <a:bodyPr/>
          <a:lstStyle/>
          <a:p>
            <a:br>
              <a:rPr lang="en-US" b="0" i="0" dirty="0">
                <a:solidFill>
                  <a:srgbClr val="323E48"/>
                </a:solidFill>
                <a:effectLst/>
                <a:latin typeface="bio-sans"/>
              </a:rPr>
            </a:br>
            <a:br>
              <a:rPr lang="en-US" b="0" i="0" dirty="0">
                <a:solidFill>
                  <a:srgbClr val="323E48"/>
                </a:solidFill>
                <a:effectLst/>
                <a:latin typeface="bio-sans"/>
              </a:rPr>
            </a:br>
            <a:r>
              <a:rPr lang="en-US" i="0" dirty="0">
                <a:solidFill>
                  <a:schemeClr val="tx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Software Licensing</a:t>
            </a:r>
            <a:br>
              <a:rPr lang="en-US" b="0" i="0" dirty="0">
                <a:solidFill>
                  <a:srgbClr val="323E48"/>
                </a:solidFill>
                <a:effectLst/>
                <a:latin typeface="bio-sans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F0E94-8B9F-F15D-5867-8AE1043121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1124745"/>
            <a:ext cx="8697566" cy="2880319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 use rights across on-premises, SaaS, and hybrid deployments</a:t>
            </a:r>
          </a:p>
          <a:p>
            <a:pPr marL="87300" indent="0" algn="l">
              <a:buNone/>
            </a:pPr>
            <a:endParaRPr lang="en-US" b="0" i="0" dirty="0">
              <a:solidFill>
                <a:srgbClr val="323E4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Introduce new pricing models, such as usage-based monetization</a:t>
            </a:r>
          </a:p>
          <a:p>
            <a:pPr marL="87300" indent="0" algn="l">
              <a:buNone/>
            </a:pPr>
            <a:endParaRPr lang="en-US" b="0" i="0" dirty="0">
              <a:solidFill>
                <a:srgbClr val="323E4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flexible packaging, bundling, and feature configuration   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4422C-C7DA-6441-6012-D0CE11140A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3306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622BD-0CBC-4029-BC9D-791586FB5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7C7FF-E30E-A653-7CC2-F3E6D6C35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06" y="93481"/>
            <a:ext cx="7499176" cy="1031263"/>
          </a:xfrm>
        </p:spPr>
        <p:txBody>
          <a:bodyPr/>
          <a:lstStyle/>
          <a:p>
            <a:br>
              <a:rPr lang="en-US" b="0" i="0" dirty="0">
                <a:solidFill>
                  <a:srgbClr val="323E48"/>
                </a:solidFill>
                <a:effectLst/>
                <a:latin typeface="bio-sans"/>
              </a:rPr>
            </a:br>
            <a:r>
              <a:rPr lang="en-US" i="0" dirty="0">
                <a:solidFill>
                  <a:schemeClr val="tx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Software Licensing</a:t>
            </a:r>
            <a:br>
              <a:rPr lang="en-US" b="0" i="0" dirty="0">
                <a:solidFill>
                  <a:srgbClr val="323E48"/>
                </a:solidFill>
                <a:effectLst/>
                <a:latin typeface="bio-sans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38A3E-A000-EAD9-D5CF-DAFD100EE35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3528" y="1124744"/>
            <a:ext cx="8229600" cy="3312367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Safeguard against piracy, tampering, and hacking</a:t>
            </a:r>
          </a:p>
          <a:p>
            <a:pPr marL="87300" indent="0" algn="l">
              <a:buNone/>
            </a:pPr>
            <a:r>
              <a:rPr lang="en-US" b="0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IoT device monetization models </a:t>
            </a:r>
          </a:p>
          <a:p>
            <a:pPr marL="87300" indent="0" algn="l">
              <a:buNone/>
            </a:pPr>
            <a:endParaRPr lang="en-US" b="0" i="0" dirty="0">
              <a:solidFill>
                <a:srgbClr val="323E4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Facilitate secure delivery and activation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23E4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Govern license compliance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EEE0D-C8A1-89F5-F205-A8875335C0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2055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1CEBD-F21E-FC50-B92A-3A1FC8DC2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0BD81-2892-1A5B-EBD7-E9B7F9ED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2" y="0"/>
            <a:ext cx="8207375" cy="1196752"/>
          </a:xfrm>
        </p:spPr>
        <p:txBody>
          <a:bodyPr/>
          <a:lstStyle/>
          <a:p>
            <a:r>
              <a:rPr lang="en-US" dirty="0">
                <a:latin typeface="+mj-lt"/>
              </a:rPr>
              <a:t>Importance of Software License for Software Developers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0BDB6-D73A-AD3B-4F47-4561B441F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3417" y="1456439"/>
            <a:ext cx="9170833" cy="3240360"/>
          </a:xfrm>
        </p:spPr>
        <p:txBody>
          <a:bodyPr/>
          <a:lstStyle/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Protecting intellectual property rights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ensure developers have control over the software and its source code. </a:t>
            </a: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Providing legal protection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 legal action against agreement violators. </a:t>
            </a:r>
          </a:p>
          <a:p>
            <a:pPr marL="228600" indent="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None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indent="0">
              <a:buSzPts val="240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>
              <a:buSzPts val="2400"/>
            </a:pPr>
            <a:endParaRPr lang="en-US" sz="2400" dirty="0"/>
          </a:p>
          <a:p>
            <a:pPr marL="0" lvl="0" indent="0">
              <a:spcAft>
                <a:spcPct val="0"/>
              </a:spcAft>
              <a:buSzPts val="2400"/>
              <a:buNone/>
            </a:pP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334EC6-8F47-5C31-BE79-A6A55C53F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615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066FC-AC3E-65D5-F169-AEE16809C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EDFED-4C21-03B1-08BD-41A159B3B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2" y="0"/>
            <a:ext cx="8207375" cy="1196752"/>
          </a:xfrm>
        </p:spPr>
        <p:txBody>
          <a:bodyPr/>
          <a:lstStyle/>
          <a:p>
            <a:r>
              <a:rPr lang="en-US" dirty="0">
                <a:latin typeface="+mj-lt"/>
              </a:rPr>
              <a:t>Importance of Software License for Software Developers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5CA92-7950-86DA-6C3B-95E46381E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6792"/>
            <a:ext cx="9170833" cy="3456384"/>
          </a:xfrm>
        </p:spPr>
        <p:txBody>
          <a:bodyPr/>
          <a:lstStyle/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Supporting revenue generation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monetizing their software through selling licenses and subscriptions</a:t>
            </a: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Promoting ethical use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via open-source licenses that foster shared responsibility within the community</a:t>
            </a:r>
          </a:p>
          <a:p>
            <a:pPr marL="228600" indent="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None/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SzPts val="240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>
              <a:buSzPts val="2400"/>
            </a:pPr>
            <a:endParaRPr lang="en-US" sz="2400" dirty="0"/>
          </a:p>
          <a:p>
            <a:pPr marL="0" lvl="0" indent="0">
              <a:spcAft>
                <a:spcPct val="0"/>
              </a:spcAft>
              <a:buSzPts val="2400"/>
              <a:buNone/>
            </a:pP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F1CF03-5847-7B52-13BD-86C64C062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8392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E4826-1052-D3A7-9644-D2578F65A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64D3D-9E70-61FC-6EE1-E1C88417E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2" y="0"/>
            <a:ext cx="8207375" cy="1196752"/>
          </a:xfrm>
        </p:spPr>
        <p:txBody>
          <a:bodyPr/>
          <a:lstStyle/>
          <a:p>
            <a:r>
              <a:rPr lang="en-US" dirty="0">
                <a:latin typeface="+mj-lt"/>
              </a:rPr>
              <a:t>Importance of Software License for Software Users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888DC-7087-43AF-9504-0E5482725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8420" y="1628800"/>
            <a:ext cx="9170833" cy="3384376"/>
          </a:xfrm>
        </p:spPr>
        <p:txBody>
          <a:bodyPr/>
          <a:lstStyle/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Setting permissions and restrictions 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prevent unintentional misuse and violation of terms, keeping everyone protected</a:t>
            </a: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Providing legal clarity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reduce the risk of disputes and other potential consequences due to misuse of the software.</a:t>
            </a:r>
          </a:p>
          <a:p>
            <a:pPr marL="228600" indent="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None/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SzPts val="240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>
              <a:buSzPts val="2400"/>
            </a:pPr>
            <a:endParaRPr lang="en-US" sz="2400" dirty="0"/>
          </a:p>
          <a:p>
            <a:pPr marL="0" lvl="0" indent="0">
              <a:spcAft>
                <a:spcPct val="0"/>
              </a:spcAft>
              <a:buSzPts val="2400"/>
              <a:buNone/>
            </a:pP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87942B-D177-C5C9-625F-5139FFEC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9393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AEFA2-6F0A-9C1A-6709-17E3CE010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218EF-F9D5-F42F-41F0-AB504563A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2" y="0"/>
            <a:ext cx="8207375" cy="1196752"/>
          </a:xfrm>
        </p:spPr>
        <p:txBody>
          <a:bodyPr/>
          <a:lstStyle/>
          <a:p>
            <a:r>
              <a:rPr lang="en-US" dirty="0">
                <a:latin typeface="+mj-lt"/>
              </a:rPr>
              <a:t>Importance of Software License for Software Users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D069D-E685-CCA0-9AA8-075CB0872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8420" y="1628800"/>
            <a:ext cx="9170833" cy="3528392"/>
          </a:xfrm>
        </p:spPr>
        <p:txBody>
          <a:bodyPr/>
          <a:lstStyle/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Establishing compliance  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between both parties on the agreed-upon terms to reduce the likelihood of any illegal activity or disputes</a:t>
            </a: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Giving liability protection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by making the users aware of any liabilities and setting realistic expectations about the software's performance.</a:t>
            </a:r>
          </a:p>
          <a:p>
            <a:pPr marL="228600" indent="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None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indent="0">
              <a:buSzPts val="240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>
              <a:buSzPts val="2400"/>
            </a:pPr>
            <a:endParaRPr lang="en-US" sz="2400" dirty="0"/>
          </a:p>
          <a:p>
            <a:pPr marL="0" lvl="0" indent="0">
              <a:spcAft>
                <a:spcPct val="0"/>
              </a:spcAft>
              <a:buSzPts val="2400"/>
              <a:buNone/>
            </a:pP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E54CE1-9A90-85DE-DEA6-8321AB955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7234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1D183-D2BC-C9A2-71B7-E18061FC7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C45D0-1B79-C768-B3F4-55BDC4BA5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-17491"/>
            <a:ext cx="8207375" cy="834678"/>
          </a:xfrm>
        </p:spPr>
        <p:txBody>
          <a:bodyPr/>
          <a:lstStyle/>
          <a:p>
            <a:r>
              <a:rPr lang="en-US" dirty="0">
                <a:latin typeface="+mj-lt"/>
              </a:rPr>
              <a:t>Software License Agreement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F2D7E-B642-0F16-3210-C6BC67C74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8420" y="1244172"/>
            <a:ext cx="9170833" cy="3276364"/>
          </a:xfrm>
        </p:spPr>
        <p:txBody>
          <a:bodyPr/>
          <a:lstStyle/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 software license agreement is the legal contract between supplier and user, specifying the rights and obligations of both parties and provisions related to support, liability, and license duration.</a:t>
            </a: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The agreement typically covers key aspects of expected performance, such as availability and reliability, while also outlining the supplier’s rights to maintain IP.</a:t>
            </a:r>
          </a:p>
          <a:p>
            <a:pPr marL="228600" indent="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None/>
            </a:pPr>
            <a:endParaRPr lang="en-US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SzPts val="240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>
              <a:buSzPts val="2400"/>
            </a:pPr>
            <a:endParaRPr lang="en-US" sz="2400" dirty="0"/>
          </a:p>
          <a:p>
            <a:pPr marL="0" lvl="0" indent="0">
              <a:spcAft>
                <a:spcPct val="0"/>
              </a:spcAft>
              <a:buSzPts val="2400"/>
              <a:buNone/>
            </a:pP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E07A6A-1B8D-26AD-B21D-37D86974A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9554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33F1B-0C09-89E5-2AFA-D7B77F4BC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BA07-28C4-F855-867A-7C2A6C96E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0"/>
            <a:ext cx="8207375" cy="834678"/>
          </a:xfrm>
        </p:spPr>
        <p:txBody>
          <a:bodyPr/>
          <a:lstStyle/>
          <a:p>
            <a:r>
              <a:rPr lang="en-US" dirty="0">
                <a:latin typeface="+mj-lt"/>
              </a:rPr>
              <a:t>Software License Agreement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24C67-9634-276F-5674-FE1765C31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587" y="1124744"/>
            <a:ext cx="9144000" cy="3780420"/>
          </a:xfrm>
        </p:spPr>
        <p:txBody>
          <a:bodyPr/>
          <a:lstStyle/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Payment terms are established, and once the contract is signed by both parties, the licenses can be activated and delivered via software license enforcement technology.</a:t>
            </a: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Within a strong software licensing framework, suppliers can add tamper-resistance to code, install safeguards against unauthorized access to software, use secure activation mechanisms, and react accordingly to any detected hacking or overuse.</a:t>
            </a: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endParaRPr lang="en-US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indent="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None/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SzPts val="240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>
              <a:buSzPts val="2400"/>
            </a:pPr>
            <a:endParaRPr lang="en-US" sz="2400" dirty="0"/>
          </a:p>
          <a:p>
            <a:pPr marL="0" lvl="0" indent="0">
              <a:spcAft>
                <a:spcPct val="0"/>
              </a:spcAft>
              <a:buSzPts val="2400"/>
              <a:buNone/>
            </a:pP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1847C0-A6C2-2FE7-5376-1A9AEE3A5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7707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D3DE4-405A-A589-FA0B-5FD0EE504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E79DC-C906-1A09-31D0-E0C41E41B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-133992"/>
            <a:ext cx="8424167" cy="1258736"/>
          </a:xfrm>
        </p:spPr>
        <p:txBody>
          <a:bodyPr/>
          <a:lstStyle/>
          <a:p>
            <a:r>
              <a:rPr lang="en-US" dirty="0">
                <a:latin typeface="+mj-lt"/>
              </a:rPr>
              <a:t>Components of Software License Agreement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BB448-53C2-51FC-698A-FE9120F87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0768"/>
            <a:ext cx="9144000" cy="3672408"/>
          </a:xfrm>
        </p:spPr>
        <p:txBody>
          <a:bodyPr/>
          <a:lstStyle/>
          <a:p>
            <a:pPr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License grant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1">
              <a:lnSpc>
                <a:spcPts val="18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Specifies user rights to access and use the software.</a:t>
            </a:r>
          </a:p>
          <a:p>
            <a:pPr marL="457200" lvl="1" indent="0">
              <a:lnSpc>
                <a:spcPts val="1800"/>
              </a:lnSpc>
              <a:spcAft>
                <a:spcPts val="600"/>
              </a:spcAft>
              <a:buNone/>
            </a:pPr>
            <a:endParaRPr lang="en-US" sz="2400" b="0" i="0" dirty="0">
              <a:solidFill>
                <a:srgbClr val="11111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Scope of software usage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1">
              <a:lnSpc>
                <a:spcPts val="18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Describes authorized use and limitations.</a:t>
            </a:r>
          </a:p>
          <a:p>
            <a:pPr marL="457200" lvl="1" indent="0">
              <a:lnSpc>
                <a:spcPts val="1800"/>
              </a:lnSpc>
              <a:spcAft>
                <a:spcPts val="600"/>
              </a:spcAft>
              <a:buNone/>
            </a:pPr>
            <a:endParaRPr lang="en-US" sz="2400" b="0" i="0" dirty="0">
              <a:solidFill>
                <a:srgbClr val="11111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Intellectual property </a:t>
            </a:r>
          </a:p>
          <a:p>
            <a:pPr lvl="1">
              <a:lnSpc>
                <a:spcPts val="18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Defines software ownership and copyright details.</a:t>
            </a:r>
          </a:p>
          <a:p>
            <a:pPr marL="228600" indent="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</a:p>
          <a:p>
            <a:pPr marL="0" indent="0">
              <a:buSzPts val="240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>
              <a:buSzPts val="2400"/>
            </a:pPr>
            <a:endParaRPr lang="en-US" sz="2400" dirty="0"/>
          </a:p>
          <a:p>
            <a:pPr marL="0" lvl="0" indent="0">
              <a:spcAft>
                <a:spcPct val="0"/>
              </a:spcAft>
              <a:buSzPts val="2400"/>
              <a:buNone/>
            </a:pP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F3A9F2-36A3-8BBE-C801-9CDB37C9D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4853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F6586-33F9-5520-011B-9B9A89808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F23DD-5AD4-7972-7E27-20A04C112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7491"/>
            <a:ext cx="8892480" cy="854203"/>
          </a:xfrm>
        </p:spPr>
        <p:txBody>
          <a:bodyPr/>
          <a:lstStyle/>
          <a:p>
            <a:r>
              <a:rPr lang="en-US" dirty="0">
                <a:latin typeface="+mj-lt"/>
              </a:rPr>
              <a:t>Components of Software License Agreement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599AA-8C27-CFE9-6AAD-C4058666F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587" y="1556792"/>
            <a:ext cx="9144000" cy="3456384"/>
          </a:xfrm>
        </p:spPr>
        <p:txBody>
          <a:bodyPr/>
          <a:lstStyle/>
          <a:p>
            <a:pPr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Usage restrictions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1">
              <a:lnSpc>
                <a:spcPts val="18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Lists all prohibited activities, such as reverse engineering.</a:t>
            </a:r>
          </a:p>
          <a:p>
            <a:pPr marL="457200" lvl="1" indent="0">
              <a:lnSpc>
                <a:spcPts val="1800"/>
              </a:lnSpc>
              <a:spcAft>
                <a:spcPts val="600"/>
              </a:spcAft>
              <a:buNone/>
            </a:pPr>
            <a:endParaRPr lang="en-US" sz="2400" b="0" i="0" dirty="0">
              <a:solidFill>
                <a:srgbClr val="11111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Payment and fees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1">
              <a:lnSpc>
                <a:spcPts val="18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software cost, payment terms, and refunds.</a:t>
            </a:r>
          </a:p>
          <a:p>
            <a:pPr marL="457200" lvl="1" indent="0">
              <a:lnSpc>
                <a:spcPts val="1800"/>
              </a:lnSpc>
              <a:spcAft>
                <a:spcPts val="600"/>
              </a:spcAft>
              <a:buNone/>
            </a:pPr>
            <a:endParaRPr lang="en-US" sz="2400" b="0" i="0" dirty="0">
              <a:solidFill>
                <a:srgbClr val="11111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Termination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1">
              <a:lnSpc>
                <a:spcPts val="18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Contains license duration and conditions for termination.</a:t>
            </a: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indent="0">
              <a:buSzPts val="2400"/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ts val="2400"/>
            </a:pPr>
            <a:endParaRPr lang="en-US" sz="2400" dirty="0"/>
          </a:p>
          <a:p>
            <a:pPr marL="0" lvl="0" indent="0">
              <a:spcAft>
                <a:spcPct val="0"/>
              </a:spcAft>
              <a:buSzPts val="2400"/>
              <a:buNone/>
            </a:pP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B6BA3F-1AE1-027D-B4A0-6E4F29C7A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9147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A2BB2-037C-9743-B9CF-78458F7D2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EFEC5-B5DD-8DA4-DC13-29A2C6F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16"/>
            <a:ext cx="8675687" cy="764088"/>
          </a:xfrm>
        </p:spPr>
        <p:txBody>
          <a:bodyPr/>
          <a:lstStyle/>
          <a:p>
            <a:r>
              <a:rPr lang="en-US" dirty="0">
                <a:latin typeface="+mj-lt"/>
              </a:rPr>
              <a:t>Components of Software License Agreement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A8017-5784-CE49-7EFD-374E6FF45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6517" y="1340768"/>
            <a:ext cx="9144000" cy="3816424"/>
          </a:xfrm>
        </p:spPr>
        <p:txBody>
          <a:bodyPr/>
          <a:lstStyle/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Support and updates</a:t>
            </a:r>
          </a:p>
          <a:p>
            <a:pPr marL="971550" lvl="1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Provides details on support levels and software updates.</a:t>
            </a: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Warranty and liability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</a:p>
          <a:p>
            <a:pPr marL="971550" lvl="1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Specifies product warranties and limits developer liability.</a:t>
            </a: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Governing law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</a:p>
          <a:p>
            <a:pPr marL="971550" lvl="1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Specifies jurisdiction and dispute resolution methods.</a:t>
            </a: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SzPts val="240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>
              <a:buSzPts val="2400"/>
            </a:pPr>
            <a:endParaRPr lang="en-US" sz="2400" dirty="0"/>
          </a:p>
          <a:p>
            <a:pPr marL="0" lvl="0" indent="0">
              <a:spcAft>
                <a:spcPct val="0"/>
              </a:spcAft>
              <a:buSzPts val="2400"/>
              <a:buNone/>
            </a:pP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88B39-1D4A-F592-BA3A-ABC391AE8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9956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BA2BC-29E3-9256-904D-B595B8C39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A12E8-6557-6F25-2181-5AE72DCFA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945"/>
            <a:ext cx="8675687" cy="674751"/>
          </a:xfrm>
        </p:spPr>
        <p:txBody>
          <a:bodyPr/>
          <a:lstStyle/>
          <a:p>
            <a:r>
              <a:rPr lang="en-US" dirty="0">
                <a:latin typeface="+mj-lt"/>
              </a:rPr>
              <a:t>Components of Software License Agreement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13575-1F6A-D14B-A57D-65F0D663C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0007" y="1272059"/>
            <a:ext cx="9144000" cy="2733005"/>
          </a:xfrm>
        </p:spPr>
        <p:txBody>
          <a:bodyPr/>
          <a:lstStyle/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Miscellaneous clauses</a:t>
            </a:r>
          </a:p>
          <a:p>
            <a:pPr marL="971550" lvl="1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Covers notices, waivers, amendments, and more.</a:t>
            </a: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Acceptance and signatures</a:t>
            </a:r>
          </a:p>
          <a:p>
            <a:pPr marL="971550" lvl="1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Requires user acknowledgment of terms and conditions.</a:t>
            </a: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SzPts val="240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>
              <a:buSzPts val="2400"/>
            </a:pPr>
            <a:endParaRPr lang="en-US" sz="2400" dirty="0"/>
          </a:p>
          <a:p>
            <a:pPr marL="0" lvl="0" indent="0">
              <a:spcAft>
                <a:spcPct val="0"/>
              </a:spcAft>
              <a:buSzPts val="2400"/>
              <a:buNone/>
            </a:pP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3B6B1D-9D3E-2357-F26D-1E6814672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8213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FB67F-9352-D2AD-DBCF-CE6F05A27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AE22F-17F0-9CE6-28E5-D42B1C96A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7945"/>
            <a:ext cx="8424167" cy="746759"/>
          </a:xfrm>
        </p:spPr>
        <p:txBody>
          <a:bodyPr/>
          <a:lstStyle/>
          <a:p>
            <a:r>
              <a:rPr lang="en-US" dirty="0">
                <a:latin typeface="+mj-lt"/>
              </a:rPr>
              <a:t>Types of Software License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4AE1F-4BDD-155C-E07A-A125C5BA5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0007" y="908721"/>
            <a:ext cx="9144000" cy="4104456"/>
          </a:xfrm>
        </p:spPr>
        <p:txBody>
          <a:bodyPr/>
          <a:lstStyle/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Proprietary licenses (Commercial license)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The source code is considered a trade secret, which is a type of intellectual property.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Intellectual property rights are held by the publisher.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Potential users must accept and abide by the terms and conditions of the software license agreement, or they legally cannot use the software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228600" indent="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None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SzPts val="240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>
              <a:buSzPts val="2400"/>
            </a:pPr>
            <a:endParaRPr lang="en-US" sz="2400" dirty="0"/>
          </a:p>
          <a:p>
            <a:pPr marL="0" lvl="0" indent="0">
              <a:spcAft>
                <a:spcPct val="0"/>
              </a:spcAft>
              <a:buSzPts val="2400"/>
              <a:buNone/>
            </a:pP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399165-79FD-7375-98F2-9FA4D2D42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8936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796A4-D970-2252-707A-77CDABA02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AAA53-6020-D9F5-F131-D7435274A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7945"/>
            <a:ext cx="8424167" cy="746759"/>
          </a:xfrm>
        </p:spPr>
        <p:txBody>
          <a:bodyPr/>
          <a:lstStyle/>
          <a:p>
            <a:r>
              <a:rPr lang="en-US" dirty="0">
                <a:latin typeface="+mj-lt"/>
              </a:rPr>
              <a:t>Types of Software License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F9311-060E-CAF3-8B93-096CC050A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7429"/>
            <a:ext cx="9035480" cy="4251771"/>
          </a:xfrm>
        </p:spPr>
        <p:txBody>
          <a:bodyPr/>
          <a:lstStyle/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Free and open-source software (FOSS) licenses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nyone is free to use, change, copy, and study.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The source code behind the software is shared, and users are able to improve the design.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user has the freedom to study the software and change it to run as he or she wishes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.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user has the freedom to distribute copies to others. 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SzPts val="240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>
              <a:buSzPts val="2400"/>
            </a:pPr>
            <a:endParaRPr lang="en-US" sz="2400" dirty="0"/>
          </a:p>
          <a:p>
            <a:pPr marL="0" lvl="0" indent="0">
              <a:spcAft>
                <a:spcPct val="0"/>
              </a:spcAft>
              <a:buSzPts val="2400"/>
              <a:buNone/>
            </a:pP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58BCB0-EDC5-4A02-9CF8-FD1D36F4D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4639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351C7-D5E9-64E9-8D4D-2ECE47C11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F4575-136B-EABC-9D51-CDAC55940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7945"/>
            <a:ext cx="8424167" cy="674751"/>
          </a:xfrm>
        </p:spPr>
        <p:txBody>
          <a:bodyPr/>
          <a:lstStyle/>
          <a:p>
            <a:r>
              <a:rPr lang="en-US" dirty="0">
                <a:latin typeface="+mj-lt"/>
              </a:rPr>
              <a:t>Types of Software License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8BD39-D2D3-27F7-FAED-E765E605A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05421"/>
            <a:ext cx="9142413" cy="3744416"/>
          </a:xfrm>
        </p:spPr>
        <p:txBody>
          <a:bodyPr/>
          <a:lstStyle/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Permissive licenses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O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pen source but have minimal restrictions on how the software can be redistributed.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Allow users substantial freedom to use, modify, and distribute software, including using it in proprietary projects.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.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Good </a:t>
            </a:r>
            <a:r>
              <a:rPr lang="en-US" sz="24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flexibility, collaboration, and broad adoption. 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228600" indent="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None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SzPts val="240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>
              <a:buSzPts val="2400"/>
            </a:pPr>
            <a:endParaRPr lang="en-US" sz="2400" dirty="0"/>
          </a:p>
          <a:p>
            <a:pPr marL="0" lvl="0" indent="0">
              <a:spcAft>
                <a:spcPct val="0"/>
              </a:spcAft>
              <a:buSzPts val="2400"/>
              <a:buNone/>
            </a:pP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6148F1-DC1A-9B6A-7FA0-E86017693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51493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F8A6D-084A-92CC-31E9-7975D9917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5FD85-20D6-6AA9-7F3D-7FC9F4454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7945"/>
            <a:ext cx="8424167" cy="674751"/>
          </a:xfrm>
        </p:spPr>
        <p:txBody>
          <a:bodyPr/>
          <a:lstStyle/>
          <a:p>
            <a:r>
              <a:rPr lang="en-US" dirty="0">
                <a:latin typeface="+mj-lt"/>
              </a:rPr>
              <a:t>Types of Software License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8288B-B5F8-98B7-A661-E7AB2250A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4744"/>
            <a:ext cx="8928099" cy="3312368"/>
          </a:xfrm>
        </p:spPr>
        <p:txBody>
          <a:bodyPr/>
          <a:lstStyle/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End-user license agreement (EULA)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Used for commercial software and outlines software usage terms for end users.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Vary from one software to another, as the terms and conditions depend on the developer's preferences, the nature of the tool, and its intended use.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SzPts val="240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>
              <a:buSzPts val="2400"/>
            </a:pPr>
            <a:endParaRPr lang="en-US" sz="2400" dirty="0"/>
          </a:p>
          <a:p>
            <a:pPr marL="0" lvl="0" indent="0">
              <a:spcAft>
                <a:spcPct val="0"/>
              </a:spcAft>
              <a:buSzPts val="2400"/>
              <a:buNone/>
            </a:pP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C13F9D-1F29-7BFE-FB9A-B998B50E3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7208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D8B38-106B-4CB0-E6DF-607C675CF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BF478-B689-17AC-5E63-64C8BFAC7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87" y="-99392"/>
            <a:ext cx="8424167" cy="67475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Software License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25B13-9E11-4DD5-54A6-F6C6067C5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8323" y="811182"/>
            <a:ext cx="9068336" cy="3933761"/>
          </a:xfrm>
        </p:spPr>
        <p:txBody>
          <a:bodyPr/>
          <a:lstStyle/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Copyleft licenses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Associated with open-source software. 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Allow derivative works or modifications of the software but require it to be open source and freely available.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that the freedom associated with open-source software, like the ability to view, modify, and distribute the source code, is extended to all subsequent users and developers.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SzPts val="240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>
              <a:buSzPts val="2400"/>
            </a:pPr>
            <a:endParaRPr lang="en-US" sz="2400" dirty="0"/>
          </a:p>
          <a:p>
            <a:pPr marL="0" lvl="0" indent="0">
              <a:spcAft>
                <a:spcPct val="0"/>
              </a:spcAft>
              <a:buSzPts val="2400"/>
              <a:buNone/>
            </a:pP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9066B-ABE6-6699-A214-5DEE1E1CD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76081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29355-F658-BCB1-5FA5-4B81D1C42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188E8-3B7B-B3BE-7894-F4C3D0513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6" y="0"/>
            <a:ext cx="8424167" cy="674751"/>
          </a:xfrm>
        </p:spPr>
        <p:txBody>
          <a:bodyPr/>
          <a:lstStyle/>
          <a:p>
            <a:r>
              <a:rPr lang="en-US" dirty="0">
                <a:latin typeface="+mj-lt"/>
              </a:rPr>
              <a:t>Types of Software Licensing Models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8D141-BDA8-A05C-D90F-853AA7C46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80727"/>
            <a:ext cx="9035602" cy="3888433"/>
          </a:xfrm>
        </p:spPr>
        <p:txBody>
          <a:bodyPr/>
          <a:lstStyle/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Perpetual software license model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non-expiring license to use a piece of software. 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The customer does not need to pay for support or update the version of the software they bought.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customer may end up with some outdated tools, leaving them unsatisfied and, in turn, creating a bad reputation for the provider. 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indent="0">
              <a:buSzPts val="240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>
              <a:buSzPts val="2400"/>
            </a:pPr>
            <a:endParaRPr lang="en-US" sz="2400" dirty="0"/>
          </a:p>
          <a:p>
            <a:pPr marL="0" lvl="0" indent="0">
              <a:spcAft>
                <a:spcPct val="0"/>
              </a:spcAft>
              <a:buSzPts val="2400"/>
              <a:buNone/>
            </a:pP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483A80-4730-047A-FCE7-3BF46A8B9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1773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31F40-203B-7516-1528-F89A6F412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11A1B-59E1-46A2-28AF-4FC8AD0E4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2" y="18303"/>
            <a:ext cx="8424167" cy="674751"/>
          </a:xfrm>
        </p:spPr>
        <p:txBody>
          <a:bodyPr/>
          <a:lstStyle/>
          <a:p>
            <a:r>
              <a:rPr lang="en-US" dirty="0">
                <a:latin typeface="+mj-lt"/>
              </a:rPr>
              <a:t>Types of Software Licensing Models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206FC-E5CD-6A5E-9994-8113B45A3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6713"/>
            <a:ext cx="9035480" cy="4320479"/>
          </a:xfrm>
        </p:spPr>
        <p:txBody>
          <a:bodyPr/>
          <a:lstStyle/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Subscription software license model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Customers typically renew their licenses annually, which includes support and updates during that period of coverage. 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Unless the customer renews the license, it is terminated automatically. 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the publisher, subscription licenses offer a steady source of income rather than getting the money all at once.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endParaRPr lang="en-US" sz="1400" dirty="0">
              <a:solidFill>
                <a:schemeClr val="tx1"/>
              </a:solidFill>
            </a:endParaRPr>
          </a:p>
          <a:p>
            <a:pPr>
              <a:buSzPts val="2400"/>
            </a:pPr>
            <a:endParaRPr lang="en-US" sz="2400" dirty="0"/>
          </a:p>
          <a:p>
            <a:pPr marL="0" lvl="0" indent="0">
              <a:spcAft>
                <a:spcPct val="0"/>
              </a:spcAft>
              <a:buSzPts val="2400"/>
              <a:buNone/>
            </a:pP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372270-D85D-4FA7-C6BF-76FB6DAC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01778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38FFE-2158-8F5E-6E63-3D9D7914F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2ECB8-4B4B-7FFF-0213-F879F3E9C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87" y="-99392"/>
            <a:ext cx="8424167" cy="674751"/>
          </a:xfrm>
        </p:spPr>
        <p:txBody>
          <a:bodyPr/>
          <a:lstStyle/>
          <a:p>
            <a:r>
              <a:rPr lang="en-US" dirty="0">
                <a:latin typeface="+mj-lt"/>
              </a:rPr>
              <a:t>Types of Software Licensing Models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3BFC1-3E37-EA76-C164-0840AE5BE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6512" y="788084"/>
            <a:ext cx="9180512" cy="3577020"/>
          </a:xfrm>
        </p:spPr>
        <p:txBody>
          <a:bodyPr/>
          <a:lstStyle/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Consumptive software license model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Has a recurring fee, but it is based on usage. 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The more the customer uses the product, the more they pay. 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payment method of the consumptive license is most closely related to the value the customer gained from the product while also providing a decent revenue flow for the provider.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endParaRPr lang="en-US" sz="1400" dirty="0">
              <a:solidFill>
                <a:schemeClr val="tx1"/>
              </a:solidFill>
            </a:endParaRPr>
          </a:p>
          <a:p>
            <a:pPr>
              <a:buSzPts val="2400"/>
            </a:pPr>
            <a:endParaRPr lang="en-US" sz="2400" dirty="0"/>
          </a:p>
          <a:p>
            <a:pPr marL="0" lvl="0" indent="0">
              <a:spcAft>
                <a:spcPct val="0"/>
              </a:spcAft>
              <a:buSzPts val="2400"/>
              <a:buNone/>
            </a:pP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FDD2E3-C8E3-5B1C-BA4B-3500663C5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10283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79855-DF6E-D196-DA0E-7C057206D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41BC2-B31C-CF05-3FAB-76E704F05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9250"/>
            <a:ext cx="8424167" cy="674751"/>
          </a:xfrm>
        </p:spPr>
        <p:txBody>
          <a:bodyPr/>
          <a:lstStyle/>
          <a:p>
            <a:r>
              <a:rPr lang="en-US" dirty="0">
                <a:latin typeface="+mj-lt"/>
              </a:rPr>
              <a:t>Types of Software Licensing Models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ABB3E-ADA7-A68B-671B-7107B5C36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80728"/>
            <a:ext cx="9121788" cy="3672408"/>
          </a:xfrm>
        </p:spPr>
        <p:txBody>
          <a:bodyPr/>
          <a:lstStyle/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Pay-per-use license model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Charges users based on their software usage. 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It's common in cloud computing and services where customers are billed for resources used. 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This model offers flexibility and cost efficiency for software providers and customers alike.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ts val="2400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Aft>
                <a:spcPct val="0"/>
              </a:spcAft>
              <a:buSzPts val="2400"/>
              <a:buNone/>
            </a:pP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678822-8756-5FB3-A24F-A90BFD437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89598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3CFE1-1492-B750-68B2-22F1C668D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F03FD-E35E-5811-4F2D-F6ADCE48B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87" y="-99392"/>
            <a:ext cx="8424167" cy="674751"/>
          </a:xfrm>
        </p:spPr>
        <p:txBody>
          <a:bodyPr/>
          <a:lstStyle/>
          <a:p>
            <a:r>
              <a:rPr lang="en-US" dirty="0">
                <a:latin typeface="+mj-lt"/>
              </a:rPr>
              <a:t>Types of Software Licensing Models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BF523-8ADD-BD7F-7378-88B2AF967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80728"/>
            <a:ext cx="9121788" cy="3816424"/>
          </a:xfrm>
        </p:spPr>
        <p:txBody>
          <a:bodyPr/>
          <a:lstStyle/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Freemium license model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Offers the basic version of the software for free to all users, while the advanced and premium features are only available for paid users.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 great way to acquire users, offer value, and convert a portion of them into paying customers while also maintaining a free option for those who may not require premium features.</a:t>
            </a: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endParaRPr lang="en-US" sz="2400" dirty="0"/>
          </a:p>
          <a:p>
            <a:pPr marL="0" lvl="0" indent="0">
              <a:spcAft>
                <a:spcPct val="0"/>
              </a:spcAft>
              <a:buSzPts val="2400"/>
              <a:buNone/>
            </a:pP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70B106-0150-773C-AC69-2507D1168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76690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EA425-1C6A-81C5-EED1-371C6F782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D9A95-56B8-79F8-FBBB-A1396CEDF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022" y="316221"/>
            <a:ext cx="8207375" cy="880532"/>
          </a:xfrm>
        </p:spPr>
        <p:txBody>
          <a:bodyPr/>
          <a:lstStyle/>
          <a:p>
            <a:r>
              <a:rPr lang="en-US" dirty="0">
                <a:latin typeface="+mj-lt"/>
              </a:rPr>
              <a:t>Software licensing deployment methods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F064F-2E54-E28C-1835-080324C3C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2" y="962726"/>
            <a:ext cx="7984796" cy="4932548"/>
          </a:xfrm>
        </p:spPr>
        <p:txBody>
          <a:bodyPr/>
          <a:lstStyle/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SzPts val="240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>
              <a:buSzPts val="2400"/>
            </a:pPr>
            <a:endParaRPr lang="en-US" sz="2400" dirty="0"/>
          </a:p>
          <a:p>
            <a:pPr marL="0" lvl="0" indent="0">
              <a:spcAft>
                <a:spcPct val="0"/>
              </a:spcAft>
              <a:buSzPts val="2400"/>
              <a:buNone/>
            </a:pP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AE7285-D3CC-179C-2E7A-008D0FF97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26</a:t>
            </a:fld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BECBAA-1666-0607-1F4F-227D71074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12" y="2057400"/>
            <a:ext cx="764857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9346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003FE-05F7-24DA-B049-888A573CF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FA00D-F90A-CC7E-D2CC-6C71DF41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0"/>
            <a:ext cx="8784976" cy="692696"/>
          </a:xfrm>
        </p:spPr>
        <p:txBody>
          <a:bodyPr/>
          <a:lstStyle/>
          <a:p>
            <a:r>
              <a:rPr lang="en-US" dirty="0">
                <a:latin typeface="+mj-lt"/>
              </a:rPr>
              <a:t>Software licensing deployment methods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C6F5B-E16B-27EA-EE3A-3144D034C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96" y="1175451"/>
            <a:ext cx="8856984" cy="2898322"/>
          </a:xfrm>
        </p:spPr>
        <p:txBody>
          <a:bodyPr/>
          <a:lstStyle/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On-premises software licensing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applies to any software installed on a local computer, device or license server, where it's only accessible locally. 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traditionally the only available software deployment method before cloud-based licensing was introduced.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SzPts val="240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>
              <a:buSzPts val="2400"/>
            </a:pPr>
            <a:endParaRPr lang="en-US" sz="2400" dirty="0"/>
          </a:p>
          <a:p>
            <a:pPr marL="0" lvl="0" indent="0">
              <a:spcAft>
                <a:spcPct val="0"/>
              </a:spcAft>
              <a:buSzPts val="2400"/>
              <a:buNone/>
            </a:pP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A7B78D-D05F-874A-419F-324FCC41E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12172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E19D5-1098-9562-5E04-B6F94FC2E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AFAA8-835C-E4E4-64CC-584B3528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0"/>
            <a:ext cx="8207375" cy="834678"/>
          </a:xfrm>
        </p:spPr>
        <p:txBody>
          <a:bodyPr/>
          <a:lstStyle/>
          <a:p>
            <a:r>
              <a:rPr lang="en-US" dirty="0">
                <a:latin typeface="+mj-lt"/>
              </a:rPr>
              <a:t>Software licensing deployment methods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D3C48-A1AD-98BD-7403-F66F6E827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95" y="962726"/>
            <a:ext cx="9106917" cy="3762418"/>
          </a:xfrm>
        </p:spPr>
        <p:txBody>
          <a:bodyPr/>
          <a:lstStyle/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b="1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SaaS/Cloud-based software licensing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involves software applications that are used, monitored and managed over the internet rather than hosted on local devices.</a:t>
            </a:r>
          </a:p>
          <a:p>
            <a:pPr lvl="1"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more convenient to install, and allows providers to easily offer patches and software updates. </a:t>
            </a:r>
          </a:p>
          <a:p>
            <a:pPr lvl="1"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suppliers and software developers can see data in real-time on how customers use the software, helping them to make product improvements, adjust sales and marketing, or identify unauthorized software access.</a:t>
            </a:r>
          </a:p>
          <a:p>
            <a:pPr marL="0" lvl="0" indent="0">
              <a:spcAft>
                <a:spcPct val="0"/>
              </a:spcAft>
              <a:buSzPts val="2400"/>
              <a:buNone/>
            </a:pP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BEFD0-A6AD-A345-349C-DA03F148D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32161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01B5D-1FEF-330D-91FA-D7EB00C5B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D370B-54C9-15FD-8F0E-C5FB04277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80" y="0"/>
            <a:ext cx="8207375" cy="764704"/>
          </a:xfrm>
        </p:spPr>
        <p:txBody>
          <a:bodyPr/>
          <a:lstStyle/>
          <a:p>
            <a:r>
              <a:rPr lang="en-US" dirty="0">
                <a:latin typeface="+mj-lt"/>
              </a:rPr>
              <a:t>Software licensing deployment methods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5241D-1896-7C39-0CC2-28827B767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95" y="962726"/>
            <a:ext cx="9106917" cy="3474386"/>
          </a:xfrm>
        </p:spPr>
        <p:txBody>
          <a:bodyPr/>
          <a:lstStyle/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b="1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Embedded software licensing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programs that are installed on systems and devices, such industrial machinery, medical equipment, automobiles, or consumer electronics. </a:t>
            </a:r>
          </a:p>
          <a:p>
            <a:pPr lvl="1">
              <a:buSzPts val="2400"/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hardware manufacturers increasingly embrace 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monetization</a:t>
            </a:r>
            <a:r>
              <a:rPr lang="en-US" sz="2400" b="0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the shift toward software-first business models continues at pace with embedded deployments exponentially on the rise.   </a:t>
            </a:r>
            <a:endParaRPr lang="en-C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22D95F-1A1F-EAEF-D05A-24F5F6C07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80956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D7363-6AFE-1471-422E-F0BFD88E9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44E9E-EAFA-F26F-C764-A1B863D8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25" y="0"/>
            <a:ext cx="8207375" cy="629126"/>
          </a:xfrm>
        </p:spPr>
        <p:txBody>
          <a:bodyPr/>
          <a:lstStyle/>
          <a:p>
            <a:r>
              <a:rPr lang="en-US" dirty="0">
                <a:latin typeface="+mj-lt"/>
              </a:rPr>
              <a:t>Software licensing  deployment methods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794EF-ED2F-2AA4-2636-2248CB61F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96" y="962726"/>
            <a:ext cx="8928992" cy="3042338"/>
          </a:xfrm>
        </p:spPr>
        <p:txBody>
          <a:bodyPr/>
          <a:lstStyle/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b="1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licensing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both cloud and on-premises aspects in one software license.</a:t>
            </a:r>
          </a:p>
          <a:p>
            <a:pPr marL="457200" lvl="1" indent="0">
              <a:buSzPts val="2400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Pts val="2400"/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utilized by producers transitioning to the cloud, but also meet the needs of organizations that prohibit cloud access.</a:t>
            </a:r>
            <a:endParaRPr lang="en-C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6B43B-22CC-439A-8D0D-DEF4CF321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98700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A05C6-6CF0-4D41-70DF-F17C43F55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A11DC-EE37-5C5D-0A8B-986528F37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2" y="9669"/>
            <a:ext cx="8207375" cy="683028"/>
          </a:xfrm>
        </p:spPr>
        <p:txBody>
          <a:bodyPr/>
          <a:lstStyle/>
          <a:p>
            <a:r>
              <a:rPr lang="en-US" dirty="0">
                <a:latin typeface="+mj-lt"/>
              </a:rPr>
              <a:t>Software licensing  deployment methods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5AA02-BEE5-E7CB-FFEC-1914A64EA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912" y="1412776"/>
            <a:ext cx="8870584" cy="2808312"/>
          </a:xfrm>
        </p:spPr>
        <p:txBody>
          <a:bodyPr/>
          <a:lstStyle/>
          <a:p>
            <a:pPr marL="5715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●"/>
            </a:pPr>
            <a:r>
              <a:rPr lang="en-US" sz="2400" b="1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licensing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both cloud and on-premises aspects in one software license.</a:t>
            </a:r>
          </a:p>
          <a:p>
            <a:pPr marL="457200" lvl="1" indent="0">
              <a:buSzPts val="2400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Pts val="2400"/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utilized by producers transitioning to the cloud, but also meet the needs of organizations that prohibit cloud access.</a:t>
            </a:r>
            <a:endParaRPr lang="en-C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53682-54C5-E996-ED8D-C7D32E521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79877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C22B9-C213-B7F2-9025-F305FE702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91183-C635-4E4B-AFD5-E821429B6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5" y="0"/>
            <a:ext cx="8928992" cy="836712"/>
          </a:xfrm>
        </p:spPr>
        <p:txBody>
          <a:bodyPr/>
          <a:lstStyle/>
          <a:p>
            <a:r>
              <a:rPr lang="en-US" dirty="0">
                <a:latin typeface="+mj-lt"/>
              </a:rPr>
              <a:t>Software licensing  support agreement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E050B-E885-BE22-2764-6CF086085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9366" y="836712"/>
            <a:ext cx="9163366" cy="3744416"/>
          </a:xfrm>
        </p:spPr>
        <p:txBody>
          <a:bodyPr/>
          <a:lstStyle/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23E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contract that requires software providers to give technical support and updates for their products.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23E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400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elpful for individuals or business owners who want to be sure their investment in software is protected. 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F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i="0" dirty="0">
                <a:solidFill>
                  <a:srgbClr val="2F2D2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nsures that consumers won’t need to worry about upgrading their systems by themselves and holds software companies accountable for their products.</a:t>
            </a:r>
            <a:endParaRPr lang="en-US" sz="2400" i="0" dirty="0">
              <a:solidFill>
                <a:srgbClr val="323E4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C085D-BB51-CD4C-8CA6-5F0B179C2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01328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4173C-BA88-5BC4-CA7C-7314BBCEC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7C816-1CCD-A8C6-E56D-4AF004DEB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5" y="0"/>
            <a:ext cx="8928992" cy="1124744"/>
          </a:xfrm>
        </p:spPr>
        <p:txBody>
          <a:bodyPr/>
          <a:lstStyle/>
          <a:p>
            <a:r>
              <a:rPr lang="en-US" dirty="0">
                <a:latin typeface="+mj-lt"/>
              </a:rPr>
              <a:t>Main Sections for Software licensing  support agreement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F1584-81EC-839E-6460-4C9AC3917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68180"/>
            <a:ext cx="9036497" cy="3144360"/>
          </a:xfrm>
        </p:spPr>
        <p:txBody>
          <a:bodyPr/>
          <a:lstStyle/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23E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first element is definitions, which provide context for certain words within the contract. 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23E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element includes information about the software license, which software updates are available, and how often they can be installed, as well as a general section that covers miscellaneous terms of the agreement.</a:t>
            </a:r>
            <a:endParaRPr lang="en-US" sz="2400" i="0" dirty="0">
              <a:solidFill>
                <a:srgbClr val="323E4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276BCA-FB2F-9447-DC17-B553CEEE2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33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49055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ADDB9-3B00-33AE-37F9-53B37A945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30A6B-A056-4467-D6C8-41A5D4BAD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5" y="0"/>
            <a:ext cx="8928992" cy="1124744"/>
          </a:xfrm>
        </p:spPr>
        <p:txBody>
          <a:bodyPr/>
          <a:lstStyle/>
          <a:p>
            <a:r>
              <a:rPr lang="en-US" dirty="0">
                <a:latin typeface="+mj-lt"/>
              </a:rPr>
              <a:t>Common Sections in a typical  Software licensing  support agreement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947DC-C417-BD52-F4C6-05B2467E2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84784"/>
            <a:ext cx="9036497" cy="4032448"/>
          </a:xfrm>
        </p:spPr>
        <p:txBody>
          <a:bodyPr/>
          <a:lstStyle/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LICENSE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LICENSE RESTRICTIONS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PAYMENTS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MAINTENANCE AND SUPPORT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WARRANTIES AND LIMITATION OF LIABILITY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359E28-CE98-573E-3622-3E1596DC9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34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87508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0A059-6A48-C5F6-1736-392F3303C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18AFA-7933-C4A8-A88D-5778EC4D0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5" y="0"/>
            <a:ext cx="8928992" cy="1124744"/>
          </a:xfrm>
        </p:spPr>
        <p:txBody>
          <a:bodyPr/>
          <a:lstStyle/>
          <a:p>
            <a:r>
              <a:rPr lang="en-US" dirty="0">
                <a:latin typeface="+mj-lt"/>
              </a:rPr>
              <a:t>Common Sections in a typical  Software licensing  support agreement</a:t>
            </a:r>
            <a:endParaRPr lang="en-CA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88A5C-839A-7BFF-150C-F8404FFB9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8600" y="1668180"/>
            <a:ext cx="9036497" cy="3144360"/>
          </a:xfrm>
        </p:spPr>
        <p:txBody>
          <a:bodyPr/>
          <a:lstStyle/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INDEMNIFICATION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CONFIDENTIAL INFORMATION AND OWNERSHIP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TERM AND TERMINATION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</a:p>
          <a:p>
            <a:pPr marL="1085850" lvl="1" indent="-457200">
              <a:lnSpc>
                <a:spcPct val="130000"/>
              </a:lnSpc>
              <a:spcBef>
                <a:spcPts val="12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i="0" dirty="0">
                <a:solidFill>
                  <a:srgbClr val="323E4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APPLICABLE LAW AND DISPUTE RESOLUTION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145101-137D-D733-5203-426BC7374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690C0-4C82-43B2-9749-0D13DA22A5B0}" type="slidenum">
              <a:rPr lang="en-CA" smtClean="0"/>
              <a:pPr>
                <a:defRPr/>
              </a:pPr>
              <a:t>35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05962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23BEC-5EAF-7642-8154-398E79CEF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5371"/>
            <a:ext cx="8229600" cy="621341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4296F-B6B5-AE81-97E6-BAABEB7A4E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3528" y="1052736"/>
            <a:ext cx="8856984" cy="4968552"/>
          </a:xfrm>
        </p:spPr>
        <p:txBody>
          <a:bodyPr/>
          <a:lstStyle/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E-Commerce 2023: Business, Technology, Society, 17th edition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Kenneth C. Laudon</a:t>
            </a:r>
          </a:p>
          <a:p>
            <a:endParaRPr lang="en-US" b="1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Business Essentials, 14th edition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Ronald J. Ebert 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https://www.revenera.com/software-monetization/glossary/software-licensing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https://track.g2.com/resources/software-license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https://www.contractscounsel.com/t/us/software-license-and-maintenance-agreement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b="1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A7272-6240-652F-2FF0-EA513381D1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36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83260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_POLLINGMASTER" val="Polling Slide Design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_POLLINGSHAPE" val="&lt;PollingTag&gt;&lt;Version&gt;1&lt;/Version&gt;&lt;Type&gt;PollingAnswer&lt;/Type&gt;&lt;Label&gt;A&lt;/Label&gt;&lt;/PollingTag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_POLLINGSHAPE" val="&lt;PollingTag&gt;&lt;Version&gt;1&lt;/Version&gt;&lt;Type&gt;PollingAnswer&lt;/Type&gt;&lt;Label&gt;B&lt;/Label&gt;&lt;/PollingTag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_POLLINGSHAPE" val="&lt;PollingTag&gt;&lt;Version&gt;1&lt;/Version&gt;&lt;Type&gt;PollingAnswer&lt;/Type&gt;&lt;Label&gt;C&lt;/Label&gt;&lt;/PollingTag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_POLLINGSHAPE" val="&lt;PollingTag&gt;&lt;Version&gt;1&lt;/Version&gt;&lt;Type&gt;PollingAnswer&lt;/Type&gt;&lt;Label&gt;D&lt;/Label&gt;&lt;/PollingTag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_POLLINGSHAPE" val="&lt;PollingTag&gt;&lt;Version&gt;1&lt;/Version&gt;&lt;Type&gt;PollingAnswer&lt;/Type&gt;&lt;Label&gt;E&lt;/Label&gt;&lt;/PollingTag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_POLLINGSHAPE" val="&lt;PollingTag&gt;&lt;Version&gt;1&lt;/Version&gt;&lt;Type&gt;PollingResultChart&lt;/Type&gt;&lt;Style&gt;1&lt;/Style&gt;&lt;/PollingTag&gt;"/>
  <p:tag name="IC_POLLINGDATA" val="&lt;PollingTag&gt;&lt;Version&gt;1&lt;/Version&gt;&lt;Type&gt;PollingSlide&lt;/Type&gt;&lt;PollingType&gt;0&lt;/PollingType&gt;&lt;ChoiceNumber&gt;5&lt;/ChoiceNumber&gt;&lt;Style&gt;1&lt;/Style&gt;&lt;TimeLimit&gt;0&lt;/TimeLimit&gt;&lt;/PollingTag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_POLLINGSHAPE" val="&lt;PollingTag&gt;&lt;Version&gt;1&lt;/Version&gt;&lt;Type&gt;PollingQuestion&lt;/Type&gt;&lt;/PollingTag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_POLLINGSHAPE" val="&lt;PollingTag&gt;&lt;Version&gt;1&lt;/Version&gt;&lt;Type&gt;PollingAnswer&lt;/Type&gt;&lt;Label&gt;A&lt;/Label&gt;&lt;/PollingTag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_POLLINGSHAPE" val="&lt;PollingTag&gt;&lt;Version&gt;1&lt;/Version&gt;&lt;Type&gt;PollingAnswerText&lt;/Type&gt;&lt;/PollingTag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_POLLINGSHAPE" val="&lt;PollingTag&gt;&lt;Version&gt;1&lt;/Version&gt;&lt;Type&gt;PollingAnswer&lt;/Type&gt;&lt;Label&gt;B&lt;/Label&gt;&lt;/PollingTag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_POLLINGSHAPE" val="&lt;PollingTag&gt;&lt;Version&gt;1&lt;/Version&gt;&lt;Type&gt;PollingAnswerText&lt;/Type&gt;&lt;/PollingTag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_POLLINGSHAPE" val="&lt;PollingTag&gt;&lt;Version&gt;1&lt;/Version&gt;&lt;Type&gt;PollingResultChart&lt;/Type&gt;&lt;Style&gt;1&lt;/Style&gt;&lt;/PollingTag&gt;"/>
  <p:tag name="IC_POLLINGDATA" val="&lt;PollingTag&gt;&lt;Version&gt;1&lt;/Version&gt;&lt;Type&gt;PollingSlide&lt;/Type&gt;&lt;PollingType&gt;2&lt;/PollingType&gt;&lt;ChoiceNumber&gt;2&lt;/ChoiceNumber&gt;&lt;Style&gt;1&lt;/Style&gt;&lt;TimeLimit&gt;0&lt;/TimeLimit&gt;&lt;/PollingTag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_POLLINGSHAPE" val="&lt;PollingTag&gt;&lt;Version&gt;1&lt;/Version&gt;&lt;Type&gt;PollingQuestion&lt;/Type&gt;&lt;/PollingTag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_POLLINGSHAPE" val="&lt;PollingTag&gt;&lt;Version&gt;1&lt;/Version&gt;&lt;Type&gt;PollingAnswer&lt;/Type&gt;&lt;Label&gt;A&lt;/Label&gt;&lt;/PollingTag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_POLLINGSHAPE" val="&lt;PollingTag&gt;&lt;Version&gt;1&lt;/Version&gt;&lt;Type&gt;PollingAnswerText&lt;/Type&gt;&lt;/PollingTag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_POLLINGSHAPE" val="&lt;PollingTag&gt;&lt;Version&gt;1&lt;/Version&gt;&lt;Type&gt;PollingAnswer&lt;/Type&gt;&lt;Label&gt;B&lt;/Label&gt;&lt;/PollingTag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_POLLINGSHAPE" val="&lt;PollingTag&gt;&lt;Version&gt;1&lt;/Version&gt;&lt;Type&gt;PollingAnswerText&lt;/Type&gt;&lt;/PollingTag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_POLLINGSHAPE" val="&lt;PollingTag&gt;&lt;Version&gt;1&lt;/Version&gt;&lt;Type&gt;PollingResultChart&lt;/Type&gt;&lt;Style&gt;1&lt;/Style&gt;&lt;/PollingTag&gt;"/>
  <p:tag name="IC_POLLINGDATA" val="&lt;PollingTag&gt;&lt;Version&gt;1&lt;/Version&gt;&lt;Type&gt;PollingSlide&lt;/Type&gt;&lt;PollingType&gt;1&lt;/PollingType&gt;&lt;ChoiceNumber&gt;2&lt;/ChoiceNumber&gt;&lt;Style&gt;1&lt;/Style&gt;&lt;TimeLimit&gt;0&lt;/TimeLimit&gt;&lt;/PollingTag&gt;"/>
</p:tagLst>
</file>

<file path=ppt/theme/theme1.xml><?xml version="1.0" encoding="utf-8"?>
<a:theme xmlns:a="http://schemas.openxmlformats.org/drawingml/2006/main" name="Office Theme">
  <a:themeElements>
    <a:clrScheme name="Algonquin College">
      <a:dk1>
        <a:sysClr val="windowText" lastClr="000000"/>
      </a:dk1>
      <a:lt1>
        <a:sysClr val="window" lastClr="FFFFFF"/>
      </a:lt1>
      <a:dk2>
        <a:srgbClr val="00673E"/>
      </a:dk2>
      <a:lt2>
        <a:srgbClr val="A0C93C"/>
      </a:lt2>
      <a:accent1>
        <a:srgbClr val="00675A"/>
      </a:accent1>
      <a:accent2>
        <a:srgbClr val="009AA6"/>
      </a:accent2>
      <a:accent3>
        <a:srgbClr val="007096"/>
      </a:accent3>
      <a:accent4>
        <a:srgbClr val="EAAB00"/>
      </a:accent4>
      <a:accent5>
        <a:srgbClr val="63666A"/>
      </a:accent5>
      <a:accent6>
        <a:srgbClr val="63666A"/>
      </a:accent6>
      <a:hlink>
        <a:srgbClr val="009AA6"/>
      </a:hlink>
      <a:folHlink>
        <a:srgbClr val="63666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4365</TotalTime>
  <Words>1930</Words>
  <Application>Microsoft Office PowerPoint</Application>
  <PresentationFormat>On-screen Show (4:3)</PresentationFormat>
  <Paragraphs>340</Paragraphs>
  <Slides>36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Aptos</vt:lpstr>
      <vt:lpstr>Arial</vt:lpstr>
      <vt:lpstr>bio-sans</vt:lpstr>
      <vt:lpstr>Calibri</vt:lpstr>
      <vt:lpstr>Times New Roman</vt:lpstr>
      <vt:lpstr>Wingdings</vt:lpstr>
      <vt:lpstr>Office Theme</vt:lpstr>
      <vt:lpstr>Software Support agreements</vt:lpstr>
      <vt:lpstr>Objectives</vt:lpstr>
      <vt:lpstr>Software License</vt:lpstr>
      <vt:lpstr>  Software Licensing </vt:lpstr>
      <vt:lpstr> Software Licensing </vt:lpstr>
      <vt:lpstr>Importance of Software License for Software Developers</vt:lpstr>
      <vt:lpstr>Importance of Software License for Software Developers</vt:lpstr>
      <vt:lpstr>Importance of Software License for Software Users</vt:lpstr>
      <vt:lpstr>Importance of Software License for Software Users</vt:lpstr>
      <vt:lpstr>Software License Agreement</vt:lpstr>
      <vt:lpstr>Software License Agreement</vt:lpstr>
      <vt:lpstr>Components of Software License Agreement</vt:lpstr>
      <vt:lpstr>Components of Software License Agreement</vt:lpstr>
      <vt:lpstr>Components of Software License Agreement</vt:lpstr>
      <vt:lpstr>Components of Software License Agreement</vt:lpstr>
      <vt:lpstr>Types of Software License</vt:lpstr>
      <vt:lpstr>Types of Software License</vt:lpstr>
      <vt:lpstr>Types of Software License</vt:lpstr>
      <vt:lpstr>Types of Software License</vt:lpstr>
      <vt:lpstr>Types of Software License</vt:lpstr>
      <vt:lpstr>Types of Software Licensing Models</vt:lpstr>
      <vt:lpstr>Types of Software Licensing Models</vt:lpstr>
      <vt:lpstr>Types of Software Licensing Models</vt:lpstr>
      <vt:lpstr>Types of Software Licensing Models</vt:lpstr>
      <vt:lpstr>Types of Software Licensing Models</vt:lpstr>
      <vt:lpstr>Software licensing deployment methods</vt:lpstr>
      <vt:lpstr>Software licensing deployment methods</vt:lpstr>
      <vt:lpstr>Software licensing deployment methods</vt:lpstr>
      <vt:lpstr>Software licensing deployment methods</vt:lpstr>
      <vt:lpstr>Software licensing  deployment methods</vt:lpstr>
      <vt:lpstr>Software licensing  deployment methods</vt:lpstr>
      <vt:lpstr>Software licensing  support agreement</vt:lpstr>
      <vt:lpstr>Main Sections for Software licensing  support agreement</vt:lpstr>
      <vt:lpstr>Common Sections in a typical  Software licensing  support agreement</vt:lpstr>
      <vt:lpstr>Common Sections in a typical  Software licensing  support agreement</vt:lpstr>
      <vt:lpstr>References</vt:lpstr>
    </vt:vector>
  </TitlesOfParts>
  <Company>Algonquin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Shawn McBride</dc:creator>
  <cp:lastModifiedBy>Rejaul Chowdhury</cp:lastModifiedBy>
  <cp:revision>221</cp:revision>
  <cp:lastPrinted>2012-09-14T14:03:18Z</cp:lastPrinted>
  <dcterms:created xsi:type="dcterms:W3CDTF">2000-10-05T13:47:11Z</dcterms:created>
  <dcterms:modified xsi:type="dcterms:W3CDTF">2025-01-27T00:48:06Z</dcterms:modified>
</cp:coreProperties>
</file>